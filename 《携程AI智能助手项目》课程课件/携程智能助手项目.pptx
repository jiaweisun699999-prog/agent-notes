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66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3628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422B3D8-9DC9-7AE7-CA11-973BD2F2B5E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E9082DE-CA3C-26C7-F575-D05FE6A6CB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B70CF-89DF-47DE-9308-E262B00F0FE5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5E5065-30EE-7CF9-2571-5A28987F3C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C98407-8BDB-F128-4DF4-00F7EC2272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9869B-BFA8-4FC1-ADC7-4E75464A69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4181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392/1/2d55bbbf0a794d2daff265f2a2ef25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300"/>
            <a:ext cx="9144000" cy="4663887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764056" y="1664780"/>
            <a:ext cx="7615888" cy="90697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lnSpc>
                <a:spcPct val="90000"/>
              </a:lnSpc>
            </a:pPr>
            <a:r>
              <a:rPr lang="en-US" sz="5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携程智能助手项目</a:t>
            </a:r>
            <a:endParaRPr lang="en-US" sz="1500" dirty="0"/>
          </a:p>
        </p:txBody>
      </p:sp>
      <p:sp>
        <p:nvSpPr>
          <p:cNvPr id="4" name="Object3"/>
          <p:cNvSpPr/>
          <p:nvPr/>
        </p:nvSpPr>
        <p:spPr>
          <a:xfrm>
            <a:off x="1897380" y="2671019"/>
            <a:ext cx="53492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CN" altLang="en-US" sz="1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作者：</a:t>
            </a:r>
            <a:r>
              <a:rPr lang="en-US" altLang="zh-CN" sz="1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Jiawei Sun</a:t>
            </a:r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8691286" y="2028552"/>
            <a:ext cx="0" cy="2411212"/>
          </a:xfrm>
          <a:custGeom>
            <a:avLst/>
            <a:gdLst/>
            <a:ahLst/>
            <a:cxnLst/>
            <a:rect l="l" t="t" r="r" b="b"/>
            <a:pathLst>
              <a:path h="2411212">
                <a:moveTo>
                  <a:pt x="0" y="0"/>
                </a:moveTo>
                <a:lnTo>
                  <a:pt x="0" y="2411212"/>
                </a:lnTo>
              </a:path>
            </a:pathLst>
          </a:custGeom>
          <a:noFill/>
          <a:ln w="19050">
            <a:solidFill>
              <a:srgbClr val="2E9FFF"/>
            </a:solidFill>
            <a:prstDash val="solid"/>
            <a:headEnd type="none"/>
            <a:tailEnd type="none"/>
          </a:ln>
        </p:spPr>
      </p:sp>
      <p:sp>
        <p:nvSpPr>
          <p:cNvPr id="6" name="Object5"/>
          <p:cNvSpPr/>
          <p:nvPr/>
        </p:nvSpPr>
        <p:spPr>
          <a:xfrm flipV="1">
            <a:off x="8598328" y="4542715"/>
            <a:ext cx="185916" cy="137160"/>
          </a:xfrm>
          <a:custGeom>
            <a:avLst/>
            <a:gdLst/>
            <a:ahLst/>
            <a:cxnLst/>
            <a:rect l="l" t="t" r="r" b="b"/>
            <a:pathLst>
              <a:path w="185916" h="137160">
                <a:moveTo>
                  <a:pt x="92958" y="0"/>
                </a:moveTo>
                <a:lnTo>
                  <a:pt x="0" y="137160"/>
                </a:lnTo>
                <a:lnTo>
                  <a:pt x="185916" y="137160"/>
                </a:lnTo>
                <a:lnTo>
                  <a:pt x="92958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2E9FFF"/>
            </a:solidFill>
            <a:prstDash val="solid"/>
          </a:ln>
        </p:spPr>
      </p:sp>
      <p:pic>
        <p:nvPicPr>
          <p:cNvPr id="7" name="Object 6" descr="https://fynotefile.oss-cn-zhangjiakou.aliyuncs.com/fynote/fyfile/392/1/8486aefb265a42c4adf6d8938809b6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680" y="-2300"/>
            <a:ext cx="2372320" cy="1829940"/>
          </a:xfrm>
          <a:prstGeom prst="rect">
            <a:avLst/>
          </a:prstGeom>
        </p:spPr>
      </p:pic>
      <p:pic>
        <p:nvPicPr>
          <p:cNvPr id="8" name="Object 7" descr="https://fynotefile.oss-cn-zhangjiakou.aliyuncs.com/fynote/fyfile/392/1/9942b3bd883144a4ba9eba285821ceb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13426"/>
            <a:ext cx="1495032" cy="2480583"/>
          </a:xfrm>
          <a:prstGeom prst="rect">
            <a:avLst/>
          </a:prstGeom>
        </p:spPr>
      </p:pic>
      <p:pic>
        <p:nvPicPr>
          <p:cNvPr id="9" name="Object 8" descr="https://fynotefile.oss-cn-zhangjiakou.aliyuncs.com/fynote/fyfile/392/1/38ad7252fd0c4accabf65b2b6e4a09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3442" y="2886332"/>
            <a:ext cx="266271" cy="2662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392/1/9b33dd61b6d545a1b5c968269a9b62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24275"/>
            <a:ext cx="9144000" cy="1419225"/>
          </a:xfrm>
          <a:prstGeom prst="rect">
            <a:avLst/>
          </a:prstGeom>
        </p:spPr>
      </p:pic>
      <p:sp>
        <p:nvSpPr>
          <p:cNvPr id="4" name="Object3"/>
          <p:cNvSpPr/>
          <p:nvPr/>
        </p:nvSpPr>
        <p:spPr>
          <a:xfrm>
            <a:off x="2246370" y="193976"/>
            <a:ext cx="48181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准备数据库</a:t>
            </a:r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958410" y="971550"/>
            <a:ext cx="7540046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aircrafts_data（飞机数据）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airports_data（机场数据）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boarding_passes（登机牌）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bookings（预订）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car_rentals（汽车租赁）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flights（航班）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hotels（酒店）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seats（座位）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ticket_flights（机票航班）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tickets（机票）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trip_recommendations（旅行推荐）</a:t>
            </a:r>
            <a:endParaRPr lang="en-US" sz="1500" dirty="0"/>
          </a:p>
        </p:txBody>
      </p:sp>
      <p:pic>
        <p:nvPicPr>
          <p:cNvPr id="6" name="Object 5" descr="https://fynotefile.oss-cn-zhangjiakou.aliyuncs.com/fynote/fyfile/482/576633/328ec559a5a74f4fa21f38af2b0de8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5854" y="870632"/>
            <a:ext cx="4008660" cy="39669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392/1/9b33dd61b6d545a1b5c968269a9b62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24275"/>
            <a:ext cx="9144000" cy="1419225"/>
          </a:xfrm>
          <a:prstGeom prst="rect">
            <a:avLst/>
          </a:prstGeom>
        </p:spPr>
      </p:pic>
      <p:sp>
        <p:nvSpPr>
          <p:cNvPr id="4" name="Object3"/>
          <p:cNvSpPr/>
          <p:nvPr/>
        </p:nvSpPr>
        <p:spPr>
          <a:xfrm>
            <a:off x="2246370" y="193976"/>
            <a:ext cx="48181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准备数据库</a:t>
            </a:r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958410" y="971550"/>
            <a:ext cx="7540046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aircrafts_data（飞机数据）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airports_data（机场数据）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boarding_passes（登机牌）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bookings（预订）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car_rentals（汽车租赁）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flights（航班）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hotels（酒店）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seats（座位）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ticket_flights（机票航班）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tickets（机票）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trip_recommendations（旅行推荐）</a:t>
            </a:r>
            <a:endParaRPr lang="en-US" sz="1500" dirty="0"/>
          </a:p>
        </p:txBody>
      </p:sp>
      <p:pic>
        <p:nvPicPr>
          <p:cNvPr id="6" name="Object 5" descr="https://fynotefile.oss-cn-zhangjiakou.aliyuncs.com/fynote/fyfile/482/576633/328ec559a5a74f4fa21f38af2b0de8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5854" y="870632"/>
            <a:ext cx="4008660" cy="39669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392/1/9b33dd61b6d545a1b5c968269a9b62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24275"/>
            <a:ext cx="9144000" cy="1419225"/>
          </a:xfrm>
          <a:prstGeom prst="rect">
            <a:avLst/>
          </a:prstGeom>
        </p:spPr>
      </p:pic>
      <p:sp>
        <p:nvSpPr>
          <p:cNvPr id="4" name="Object3"/>
          <p:cNvSpPr/>
          <p:nvPr/>
        </p:nvSpPr>
        <p:spPr>
          <a:xfrm>
            <a:off x="2246370" y="193976"/>
            <a:ext cx="48181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准备数据库</a:t>
            </a:r>
            <a:endParaRPr lang="en-US" sz="1500" dirty="0"/>
          </a:p>
        </p:txBody>
      </p:sp>
      <p:pic>
        <p:nvPicPr>
          <p:cNvPr id="5" name="Object 4" descr="https://fynotefile.oss-cn-zhangjiakou.aliyuncs.com/fynote/fyfile/482/576633/0ba214f0ac3847c584db969e915343c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431" y="870632"/>
            <a:ext cx="2825262" cy="4029473"/>
          </a:xfrm>
          <a:prstGeom prst="rect">
            <a:avLst/>
          </a:prstGeom>
        </p:spPr>
      </p:pic>
      <p:sp>
        <p:nvSpPr>
          <p:cNvPr id="6" name="Object5"/>
          <p:cNvSpPr/>
          <p:nvPr/>
        </p:nvSpPr>
        <p:spPr>
          <a:xfrm>
            <a:off x="1229559" y="1226431"/>
            <a:ext cx="28575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aircrafts_data（飞机数据）表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392/1/9b33dd61b6d545a1b5c968269a9b62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24275"/>
            <a:ext cx="9144000" cy="1419225"/>
          </a:xfrm>
          <a:prstGeom prst="rect">
            <a:avLst/>
          </a:prstGeom>
        </p:spPr>
      </p:pic>
      <p:sp>
        <p:nvSpPr>
          <p:cNvPr id="4" name="Object3"/>
          <p:cNvSpPr/>
          <p:nvPr/>
        </p:nvSpPr>
        <p:spPr>
          <a:xfrm>
            <a:off x="2246370" y="193976"/>
            <a:ext cx="48181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准备数据库</a:t>
            </a:r>
            <a:endParaRPr lang="en-US" sz="1500" dirty="0"/>
          </a:p>
        </p:txBody>
      </p:sp>
      <p:pic>
        <p:nvPicPr>
          <p:cNvPr id="5" name="Object 4" descr="https://fynotefile.oss-cn-zhangjiakou.aliyuncs.com/fynote/fyfile/482/576633/268fce90e96d44139d32582915ab7a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090" y="870632"/>
            <a:ext cx="6475821" cy="39873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565872" y="-4982706"/>
            <a:ext cx="8012256" cy="7986023"/>
          </a:xfrm>
          <a:custGeom>
            <a:avLst/>
            <a:gdLst/>
            <a:ahLst/>
            <a:cxnLst/>
            <a:rect l="l" t="t" r="r" b="b"/>
            <a:pathLst>
              <a:path w="8012256" h="7986023">
                <a:moveTo>
                  <a:pt x="4006128" y="0"/>
                </a:moveTo>
                <a:cubicBezTo>
                  <a:pt x="6217170" y="0"/>
                  <a:pt x="8012256" y="1789208"/>
                  <a:pt x="8012256" y="3993011"/>
                </a:cubicBezTo>
                <a:cubicBezTo>
                  <a:pt x="8012256" y="6196815"/>
                  <a:pt x="6217170" y="7986023"/>
                  <a:pt x="4006128" y="7986023"/>
                </a:cubicBezTo>
                <a:cubicBezTo>
                  <a:pt x="1795086" y="7986023"/>
                  <a:pt x="0" y="6196815"/>
                  <a:pt x="0" y="3993011"/>
                </a:cubicBezTo>
                <a:cubicBezTo>
                  <a:pt x="0" y="1789208"/>
                  <a:pt x="1795086" y="0"/>
                  <a:pt x="4006128" y="0"/>
                </a:cubicBezTo>
                <a:close/>
              </a:path>
            </a:pathLst>
          </a:custGeom>
          <a:solidFill>
            <a:srgbClr val="5B9BD5"/>
          </a:solidFill>
        </p:spPr>
      </p:sp>
      <p:sp>
        <p:nvSpPr>
          <p:cNvPr id="4" name="Object3"/>
          <p:cNvSpPr/>
          <p:nvPr/>
        </p:nvSpPr>
        <p:spPr>
          <a:xfrm>
            <a:off x="1031411" y="1205573"/>
            <a:ext cx="6810027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定义工具来搜索航空公司的政策手册，并搜索和管理存储在 SQL 数据库中的航班、酒店、租车和游览的预订。</a:t>
            </a:r>
            <a:endParaRPr 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企业政策数据查询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航班工具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租车工具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酒店预订工具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旅游产品工具</a:t>
            </a:r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2246370" y="193976"/>
            <a:ext cx="48181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开发工具函数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565872" y="-4982706"/>
            <a:ext cx="8012256" cy="7986023"/>
          </a:xfrm>
          <a:custGeom>
            <a:avLst/>
            <a:gdLst/>
            <a:ahLst/>
            <a:cxnLst/>
            <a:rect l="l" t="t" r="r" b="b"/>
            <a:pathLst>
              <a:path w="8012256" h="7986023">
                <a:moveTo>
                  <a:pt x="4006128" y="0"/>
                </a:moveTo>
                <a:cubicBezTo>
                  <a:pt x="6217170" y="0"/>
                  <a:pt x="8012256" y="1789208"/>
                  <a:pt x="8012256" y="3993011"/>
                </a:cubicBezTo>
                <a:cubicBezTo>
                  <a:pt x="8012256" y="6196815"/>
                  <a:pt x="6217170" y="7986023"/>
                  <a:pt x="4006128" y="7986023"/>
                </a:cubicBezTo>
                <a:cubicBezTo>
                  <a:pt x="1795086" y="7986023"/>
                  <a:pt x="0" y="6196815"/>
                  <a:pt x="0" y="3993011"/>
                </a:cubicBezTo>
                <a:cubicBezTo>
                  <a:pt x="0" y="1789208"/>
                  <a:pt x="1795086" y="0"/>
                  <a:pt x="4006128" y="0"/>
                </a:cubicBezTo>
                <a:close/>
              </a:path>
            </a:pathLst>
          </a:custGeom>
          <a:solidFill>
            <a:srgbClr val="5B9BD5"/>
          </a:solidFill>
        </p:spPr>
      </p:sp>
      <p:sp>
        <p:nvSpPr>
          <p:cNvPr id="4" name="Object3"/>
          <p:cNvSpPr/>
          <p:nvPr/>
        </p:nvSpPr>
        <p:spPr>
          <a:xfrm>
            <a:off x="1031411" y="1205573"/>
            <a:ext cx="6810027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定义辅助函数，以便在调试图时以更美观的格式打印消息，并为我们的工具节点提供错误处理</a:t>
            </a:r>
          </a:p>
          <a:p>
            <a:r>
              <a:rPr lang="en-US" sz="15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将我们的 StateGraph 的状态定义为一个类型化的字典</a:t>
            </a:r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创建工具Agent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定义工作流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运行工作流</a:t>
            </a:r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2246370" y="193976"/>
            <a:ext cx="48181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开发初步工作流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565872" y="-4982706"/>
            <a:ext cx="8012256" cy="7986023"/>
          </a:xfrm>
          <a:custGeom>
            <a:avLst/>
            <a:gdLst/>
            <a:ahLst/>
            <a:cxnLst/>
            <a:rect l="l" t="t" r="r" b="b"/>
            <a:pathLst>
              <a:path w="8012256" h="7986023">
                <a:moveTo>
                  <a:pt x="4006128" y="0"/>
                </a:moveTo>
                <a:cubicBezTo>
                  <a:pt x="6217170" y="0"/>
                  <a:pt x="8012256" y="1789208"/>
                  <a:pt x="8012256" y="3993011"/>
                </a:cubicBezTo>
                <a:cubicBezTo>
                  <a:pt x="8012256" y="6196815"/>
                  <a:pt x="6217170" y="7986023"/>
                  <a:pt x="4006128" y="7986023"/>
                </a:cubicBezTo>
                <a:cubicBezTo>
                  <a:pt x="1795086" y="7986023"/>
                  <a:pt x="0" y="6196815"/>
                  <a:pt x="0" y="3993011"/>
                </a:cubicBezTo>
                <a:cubicBezTo>
                  <a:pt x="0" y="1789208"/>
                  <a:pt x="1795086" y="0"/>
                  <a:pt x="4006128" y="0"/>
                </a:cubicBezTo>
                <a:close/>
              </a:path>
            </a:pathLst>
          </a:custGeom>
          <a:solidFill>
            <a:srgbClr val="5B9BD5"/>
          </a:solidFill>
        </p:spPr>
      </p:sp>
      <p:sp>
        <p:nvSpPr>
          <p:cNvPr id="4" name="Object3"/>
          <p:cNvSpPr/>
          <p:nvPr/>
        </p:nvSpPr>
        <p:spPr>
          <a:xfrm>
            <a:off x="1031411" y="1205573"/>
            <a:ext cx="7164608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我们将使用 interrupt_before 在执行任何工具 </a:t>
            </a:r>
            <a:r>
              <a:rPr lang="en-US" sz="15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之前</a:t>
            </a:r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暂停图，并将控制权交还给用户。</a:t>
            </a:r>
            <a:endParaRPr lang="en-US" sz="1500" dirty="0"/>
          </a:p>
          <a:p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在第一个节点中显式填充用户状态，这样AI只能助手就不必使用工具来了解用户。然后，在使用工具之前添加中断。</a:t>
            </a:r>
            <a:endParaRPr lang="en-US" sz="1500" dirty="0"/>
          </a:p>
          <a:p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步骤：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修改状态： 添加一个字符串的用户信息信息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修改Assistant：</a:t>
            </a:r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Assistant </a:t>
            </a:r>
            <a:r>
              <a:rPr 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对象中使用状态，而不是使用可配置参数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修改Graph： 添加一个用户信息节点，显示的填充用户状态；加入断点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修改执行工作流的代码</a:t>
            </a:r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2246370" y="193976"/>
            <a:ext cx="48181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加入用户确认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565872" y="-4982706"/>
            <a:ext cx="8012256" cy="7986023"/>
          </a:xfrm>
          <a:custGeom>
            <a:avLst/>
            <a:gdLst/>
            <a:ahLst/>
            <a:cxnLst/>
            <a:rect l="l" t="t" r="r" b="b"/>
            <a:pathLst>
              <a:path w="8012256" h="7986023">
                <a:moveTo>
                  <a:pt x="4006128" y="0"/>
                </a:moveTo>
                <a:cubicBezTo>
                  <a:pt x="6217170" y="0"/>
                  <a:pt x="8012256" y="1789208"/>
                  <a:pt x="8012256" y="3993011"/>
                </a:cubicBezTo>
                <a:cubicBezTo>
                  <a:pt x="8012256" y="6196815"/>
                  <a:pt x="6217170" y="7986023"/>
                  <a:pt x="4006128" y="7986023"/>
                </a:cubicBezTo>
                <a:cubicBezTo>
                  <a:pt x="1795086" y="7986023"/>
                  <a:pt x="0" y="6196815"/>
                  <a:pt x="0" y="3993011"/>
                </a:cubicBezTo>
                <a:cubicBezTo>
                  <a:pt x="0" y="1789208"/>
                  <a:pt x="1795086" y="0"/>
                  <a:pt x="4006128" y="0"/>
                </a:cubicBezTo>
                <a:close/>
              </a:path>
            </a:pathLst>
          </a:custGeom>
          <a:solidFill>
            <a:srgbClr val="5B9BD5"/>
          </a:solidFill>
        </p:spPr>
      </p:sp>
      <p:sp>
        <p:nvSpPr>
          <p:cNvPr id="4" name="Object3"/>
          <p:cNvSpPr/>
          <p:nvPr/>
        </p:nvSpPr>
        <p:spPr>
          <a:xfrm>
            <a:off x="2246370" y="193976"/>
            <a:ext cx="48181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加入用户确认</a:t>
            </a:r>
            <a:endParaRPr lang="en-US" sz="1500" dirty="0"/>
          </a:p>
        </p:txBody>
      </p:sp>
      <p:pic>
        <p:nvPicPr>
          <p:cNvPr id="5" name="Object 4" descr="https://fynotefile.oss-cn-zhangjiakou.aliyuncs.com/fynote/fyfile/482/576633/99c5d1717062414d9b499586f9441f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988" y="712873"/>
            <a:ext cx="4276889" cy="42296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565872" y="-4982706"/>
            <a:ext cx="8012256" cy="7986023"/>
          </a:xfrm>
          <a:custGeom>
            <a:avLst/>
            <a:gdLst/>
            <a:ahLst/>
            <a:cxnLst/>
            <a:rect l="l" t="t" r="r" b="b"/>
            <a:pathLst>
              <a:path w="8012256" h="7986023">
                <a:moveTo>
                  <a:pt x="4006128" y="0"/>
                </a:moveTo>
                <a:cubicBezTo>
                  <a:pt x="6217170" y="0"/>
                  <a:pt x="8012256" y="1789208"/>
                  <a:pt x="8012256" y="3993011"/>
                </a:cubicBezTo>
                <a:cubicBezTo>
                  <a:pt x="8012256" y="6196815"/>
                  <a:pt x="6217170" y="7986023"/>
                  <a:pt x="4006128" y="7986023"/>
                </a:cubicBezTo>
                <a:cubicBezTo>
                  <a:pt x="1795086" y="7986023"/>
                  <a:pt x="0" y="6196815"/>
                  <a:pt x="0" y="3993011"/>
                </a:cubicBezTo>
                <a:cubicBezTo>
                  <a:pt x="0" y="1789208"/>
                  <a:pt x="1795086" y="0"/>
                  <a:pt x="4006128" y="0"/>
                </a:cubicBezTo>
                <a:close/>
              </a:path>
            </a:pathLst>
          </a:custGeom>
          <a:solidFill>
            <a:srgbClr val="5B9BD5"/>
          </a:solidFill>
        </p:spPr>
      </p:sp>
      <p:sp>
        <p:nvSpPr>
          <p:cNvPr id="4" name="Object3"/>
          <p:cNvSpPr/>
          <p:nvPr/>
        </p:nvSpPr>
        <p:spPr>
          <a:xfrm>
            <a:off x="1031411" y="1205573"/>
            <a:ext cx="7164608" cy="3383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我们将通过将工具分类为安全（只读）或敏感（数据修改）来改进中断策略。 我们将只对敏感工具应用中断，允许AI智能助手自主处理简单的查询。</a:t>
            </a:r>
            <a:r>
              <a:rPr lang="en-US" sz="1500" dirty="0">
                <a:solidFill>
                  <a:srgbClr val="2C2C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可以确保系统的安全性与用户体验之间的平衡，既允许高效处理信息查询类任务，也保障了涉及重要决策的任务得到用户的明确同意。这样不仅提高了用户的信任度，还能有效避免因误操作带来的不便或损失。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步骤：</a:t>
            </a:r>
            <a:endParaRPr lang="en-US" sz="1500" dirty="0"/>
          </a:p>
          <a:p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修改Assistant：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定义“只读”工具列表，这些工具不需要用户确认即可使用。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定义敏感工具列表，这些工具会更改用户的预订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创建一个包含所有敏感工具名称的集合，用于后续判断是否需要用户确认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修改Graph：把原来的Tool拆分为两个节点</a:t>
            </a:r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2246370" y="193976"/>
            <a:ext cx="48181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条件中断确认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565872" y="-4982706"/>
            <a:ext cx="8012256" cy="7986023"/>
          </a:xfrm>
          <a:custGeom>
            <a:avLst/>
            <a:gdLst/>
            <a:ahLst/>
            <a:cxnLst/>
            <a:rect l="l" t="t" r="r" b="b"/>
            <a:pathLst>
              <a:path w="8012256" h="7986023">
                <a:moveTo>
                  <a:pt x="4006128" y="0"/>
                </a:moveTo>
                <a:cubicBezTo>
                  <a:pt x="6217170" y="0"/>
                  <a:pt x="8012256" y="1789208"/>
                  <a:pt x="8012256" y="3993011"/>
                </a:cubicBezTo>
                <a:cubicBezTo>
                  <a:pt x="8012256" y="6196815"/>
                  <a:pt x="6217170" y="7986023"/>
                  <a:pt x="4006128" y="7986023"/>
                </a:cubicBezTo>
                <a:cubicBezTo>
                  <a:pt x="1795086" y="7986023"/>
                  <a:pt x="0" y="6196815"/>
                  <a:pt x="0" y="3993011"/>
                </a:cubicBezTo>
                <a:cubicBezTo>
                  <a:pt x="0" y="1789208"/>
                  <a:pt x="1795086" y="0"/>
                  <a:pt x="4006128" y="0"/>
                </a:cubicBezTo>
                <a:close/>
              </a:path>
            </a:pathLst>
          </a:custGeom>
          <a:solidFill>
            <a:srgbClr val="5B9BD5"/>
          </a:solidFill>
        </p:spPr>
      </p:sp>
      <p:sp>
        <p:nvSpPr>
          <p:cNvPr id="4" name="Object3"/>
          <p:cNvSpPr/>
          <p:nvPr/>
        </p:nvSpPr>
        <p:spPr>
          <a:xfrm>
            <a:off x="2246370" y="193976"/>
            <a:ext cx="48181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条件中断确认</a:t>
            </a:r>
            <a:endParaRPr lang="en-US" sz="1500" dirty="0"/>
          </a:p>
        </p:txBody>
      </p:sp>
      <p:pic>
        <p:nvPicPr>
          <p:cNvPr id="5" name="Object 4" descr="https://fynotefile.oss-cn-zhangjiakou.aliyuncs.com/fynote/fyfile/482/576633/c7477db590f846c5893e059fa7ab2b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574" y="870632"/>
            <a:ext cx="5494726" cy="39971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565872" y="-4982706"/>
            <a:ext cx="8012256" cy="7986023"/>
          </a:xfrm>
          <a:custGeom>
            <a:avLst/>
            <a:gdLst/>
            <a:ahLst/>
            <a:cxnLst/>
            <a:rect l="l" t="t" r="r" b="b"/>
            <a:pathLst>
              <a:path w="8012256" h="7986023">
                <a:moveTo>
                  <a:pt x="4006128" y="0"/>
                </a:moveTo>
                <a:cubicBezTo>
                  <a:pt x="6217170" y="0"/>
                  <a:pt x="8012256" y="1789208"/>
                  <a:pt x="8012256" y="3993011"/>
                </a:cubicBezTo>
                <a:cubicBezTo>
                  <a:pt x="8012256" y="6196815"/>
                  <a:pt x="6217170" y="7986023"/>
                  <a:pt x="4006128" y="7986023"/>
                </a:cubicBezTo>
                <a:cubicBezTo>
                  <a:pt x="1795086" y="7986023"/>
                  <a:pt x="0" y="6196815"/>
                  <a:pt x="0" y="3993011"/>
                </a:cubicBezTo>
                <a:cubicBezTo>
                  <a:pt x="0" y="1789208"/>
                  <a:pt x="1795086" y="0"/>
                  <a:pt x="4006128" y="0"/>
                </a:cubicBezTo>
                <a:close/>
              </a:path>
            </a:pathLst>
          </a:custGeom>
          <a:solidFill>
            <a:srgbClr val="5B9BD5"/>
          </a:solidFill>
        </p:spPr>
      </p:sp>
      <p:sp>
        <p:nvSpPr>
          <p:cNvPr id="4" name="Object3"/>
          <p:cNvSpPr/>
          <p:nvPr/>
        </p:nvSpPr>
        <p:spPr>
          <a:xfrm>
            <a:off x="1031411" y="1205573"/>
            <a:ext cx="7164608" cy="3611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我们的工作流可以检测用户意图并选择适当的Agent或“Tool”来满足用户的需求。每个Agent都可以专注于其领域。</a:t>
            </a:r>
            <a:endParaRPr lang="en-US" sz="1500" dirty="0"/>
          </a:p>
          <a:p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这次，我们将为 </a:t>
            </a:r>
            <a:r>
              <a:rPr lang="en-US" sz="15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每个Agent</a:t>
            </a:r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创建一个助手。这意味着</a:t>
            </a:r>
            <a:endParaRPr lang="en-US" sz="1500" dirty="0"/>
          </a:p>
          <a:p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航班预订助手</a:t>
            </a:r>
            <a:endParaRPr lang="en-US" sz="1500" dirty="0"/>
          </a:p>
          <a:p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酒店预订助手</a:t>
            </a:r>
            <a:endParaRPr lang="en-US" sz="1500" dirty="0"/>
          </a:p>
          <a:p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租车助手</a:t>
            </a:r>
            <a:endParaRPr lang="en-US" sz="1500" dirty="0"/>
          </a:p>
          <a:p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游览助手</a:t>
            </a:r>
            <a:endParaRPr lang="en-US" sz="1500" dirty="0"/>
          </a:p>
          <a:p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最后，一个“主助手”在这些助手之间进行路由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步骤：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1、修改State类：</a:t>
            </a:r>
            <a:r>
              <a:rPr lang="en-US" sz="1500" dirty="0">
                <a:solidFill>
                  <a:srgbClr val="2C2C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通过这种方式，您可以构建一个强大的对话管理系统，能够灵活地管理和追踪对话的状态变化。</a:t>
            </a:r>
            <a:endParaRPr lang="en-US" sz="1500" dirty="0"/>
          </a:p>
          <a:p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2246370" y="193976"/>
            <a:ext cx="48181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拆分为专业工作流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565872" y="-4982706"/>
            <a:ext cx="8012256" cy="7986023"/>
          </a:xfrm>
          <a:custGeom>
            <a:avLst/>
            <a:gdLst/>
            <a:ahLst/>
            <a:cxnLst/>
            <a:rect l="l" t="t" r="r" b="b"/>
            <a:pathLst>
              <a:path w="8012256" h="7986023">
                <a:moveTo>
                  <a:pt x="4006128" y="0"/>
                </a:moveTo>
                <a:cubicBezTo>
                  <a:pt x="6217170" y="0"/>
                  <a:pt x="8012256" y="1789208"/>
                  <a:pt x="8012256" y="3993011"/>
                </a:cubicBezTo>
                <a:cubicBezTo>
                  <a:pt x="8012256" y="6196815"/>
                  <a:pt x="6217170" y="7986023"/>
                  <a:pt x="4006128" y="7986023"/>
                </a:cubicBezTo>
                <a:cubicBezTo>
                  <a:pt x="1795086" y="7986023"/>
                  <a:pt x="0" y="6196815"/>
                  <a:pt x="0" y="3993011"/>
                </a:cubicBezTo>
                <a:cubicBezTo>
                  <a:pt x="0" y="1789208"/>
                  <a:pt x="1795086" y="0"/>
                  <a:pt x="4006128" y="0"/>
                </a:cubicBezTo>
                <a:close/>
              </a:path>
            </a:pathLst>
          </a:custGeom>
          <a:solidFill>
            <a:srgbClr val="5B9BD5"/>
          </a:solidFill>
        </p:spPr>
      </p:sp>
      <p:sp>
        <p:nvSpPr>
          <p:cNvPr id="4" name="Object3"/>
          <p:cNvSpPr/>
          <p:nvPr/>
        </p:nvSpPr>
        <p:spPr>
          <a:xfrm>
            <a:off x="1031411" y="1205573"/>
            <a:ext cx="7164608" cy="429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我们的工作流可以检测用户意图并选择适当的Agent或“Tool”来满足用户的需求。每个Agent都可以专注于其领域。</a:t>
            </a:r>
            <a:endParaRPr lang="en-US" sz="1500" dirty="0"/>
          </a:p>
          <a:p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这次，我们将为 </a:t>
            </a:r>
            <a:r>
              <a:rPr lang="en-US" sz="15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每个Agent</a:t>
            </a:r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创建一个助手。这意味着</a:t>
            </a:r>
            <a:endParaRPr lang="en-US" sz="1500" dirty="0"/>
          </a:p>
          <a:p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航班预订助手</a:t>
            </a:r>
            <a:endParaRPr lang="en-US" sz="1500" dirty="0"/>
          </a:p>
          <a:p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酒店预订助手</a:t>
            </a:r>
            <a:endParaRPr lang="en-US" sz="1500" dirty="0"/>
          </a:p>
          <a:p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租车助手</a:t>
            </a:r>
            <a:endParaRPr lang="en-US" sz="1500" dirty="0"/>
          </a:p>
          <a:p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游览助手</a:t>
            </a:r>
            <a:endParaRPr lang="en-US" sz="1500" dirty="0"/>
          </a:p>
          <a:p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最后，一个“主助手”在这些助手之间进行路由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步骤：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2、增加一个Agent_Assistant：</a:t>
            </a:r>
            <a:r>
              <a:rPr lang="en-US" sz="1500" dirty="0">
                <a:solidFill>
                  <a:srgbClr val="2C2C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里面定义各个 Agent助手的Runnable对象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3、修改主助理Assistant类：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（1）增加一个统一的子助手处理数据返回 格式类：CompleteOrEscalate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（2）增加各个子助手的数据传输格式类：ToFlightBookingAssistant等</a:t>
            </a:r>
            <a:endParaRPr lang="en-US" sz="1500" dirty="0"/>
          </a:p>
          <a:p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2246370" y="193976"/>
            <a:ext cx="48181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拆分为专业工作流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565872" y="-4982706"/>
            <a:ext cx="8012256" cy="7986023"/>
          </a:xfrm>
          <a:custGeom>
            <a:avLst/>
            <a:gdLst/>
            <a:ahLst/>
            <a:cxnLst/>
            <a:rect l="l" t="t" r="r" b="b"/>
            <a:pathLst>
              <a:path w="8012256" h="7986023">
                <a:moveTo>
                  <a:pt x="4006128" y="0"/>
                </a:moveTo>
                <a:cubicBezTo>
                  <a:pt x="6217170" y="0"/>
                  <a:pt x="8012256" y="1789208"/>
                  <a:pt x="8012256" y="3993011"/>
                </a:cubicBezTo>
                <a:cubicBezTo>
                  <a:pt x="8012256" y="6196815"/>
                  <a:pt x="6217170" y="7986023"/>
                  <a:pt x="4006128" y="7986023"/>
                </a:cubicBezTo>
                <a:cubicBezTo>
                  <a:pt x="1795086" y="7986023"/>
                  <a:pt x="0" y="6196815"/>
                  <a:pt x="0" y="3993011"/>
                </a:cubicBezTo>
                <a:cubicBezTo>
                  <a:pt x="0" y="1789208"/>
                  <a:pt x="1795086" y="0"/>
                  <a:pt x="4006128" y="0"/>
                </a:cubicBezTo>
                <a:close/>
              </a:path>
            </a:pathLst>
          </a:custGeom>
          <a:solidFill>
            <a:srgbClr val="5B9BD5"/>
          </a:solidFill>
        </p:spPr>
      </p:sp>
      <p:sp>
        <p:nvSpPr>
          <p:cNvPr id="4" name="Object3"/>
          <p:cNvSpPr/>
          <p:nvPr/>
        </p:nvSpPr>
        <p:spPr>
          <a:xfrm>
            <a:off x="1031411" y="1205573"/>
            <a:ext cx="7164608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即将创建工作流图。我们让所有节点共享一个messages状态。因为每个委托的子助手都可以看到整个用户旅程并具有共享上下文。但是，这意味着较弱的LLM很容易混淆其特定的范围。为了标记主助手与一个委托的子助手之间的“移交”（并完成来自路由器的工具调用），我们将在状态中添加一个ToolMessage。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步骤：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4、</a:t>
            </a:r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创建一个函数（</a:t>
            </a:r>
            <a:r>
              <a:rPr lang="en-US" sz="15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create_entry_node</a:t>
            </a:r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），为每个子助理创建一个“入口”节点，声明“当前助手是ssistant_name。</a:t>
            </a:r>
            <a:endParaRPr lang="en-US" sz="1500" dirty="0"/>
          </a:p>
          <a:p>
            <a:r>
              <a:rPr lang="en-US" sz="1500" dirty="0">
                <a:solidFill>
                  <a:srgbClr val="2C2C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该函数返回另一个函数 entry_node。这种编程模式被称为闭包（closure），它允许一个函数访问其定义时的环境中的变量。</a:t>
            </a:r>
            <a:endParaRPr lang="en-US" sz="1500" dirty="0"/>
          </a:p>
          <a:p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2246370" y="193976"/>
            <a:ext cx="48181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拆分为专业工作流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607587" y="-5339894"/>
            <a:ext cx="8012256" cy="7986023"/>
          </a:xfrm>
          <a:custGeom>
            <a:avLst/>
            <a:gdLst/>
            <a:ahLst/>
            <a:cxnLst/>
            <a:rect l="l" t="t" r="r" b="b"/>
            <a:pathLst>
              <a:path w="8012256" h="7986023">
                <a:moveTo>
                  <a:pt x="4006128" y="0"/>
                </a:moveTo>
                <a:cubicBezTo>
                  <a:pt x="6217170" y="0"/>
                  <a:pt x="8012256" y="1789208"/>
                  <a:pt x="8012256" y="3993011"/>
                </a:cubicBezTo>
                <a:cubicBezTo>
                  <a:pt x="8012256" y="6196815"/>
                  <a:pt x="6217170" y="7986023"/>
                  <a:pt x="4006128" y="7986023"/>
                </a:cubicBezTo>
                <a:cubicBezTo>
                  <a:pt x="1795086" y="7986023"/>
                  <a:pt x="0" y="6196815"/>
                  <a:pt x="0" y="3993011"/>
                </a:cubicBezTo>
                <a:cubicBezTo>
                  <a:pt x="0" y="1789208"/>
                  <a:pt x="1795086" y="0"/>
                  <a:pt x="4006128" y="0"/>
                </a:cubicBezTo>
                <a:close/>
              </a:path>
            </a:pathLst>
          </a:custGeom>
          <a:solidFill>
            <a:srgbClr val="5B9BD5"/>
          </a:solidFill>
        </p:spPr>
      </p:sp>
      <p:sp>
        <p:nvSpPr>
          <p:cNvPr id="4" name="Object3"/>
          <p:cNvSpPr/>
          <p:nvPr/>
        </p:nvSpPr>
        <p:spPr>
          <a:xfrm>
            <a:off x="1031411" y="958685"/>
            <a:ext cx="7164608" cy="4023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C2C36"/>
                </a:solidFill>
              </a:rPr>
              <a:t>保持状态</a:t>
            </a:r>
            <a:r>
              <a:rPr lang="en-US" sz="1200" dirty="0">
                <a:solidFill>
                  <a:srgbClr val="2C2C36"/>
                </a:solidFill>
              </a:rPr>
              <a:t>：通过闭包，您可以创建一个携带额外信息（如 assistant_name</a:t>
            </a:r>
            <a:r>
              <a:rPr lang="en-US" sz="1200" dirty="0">
                <a:solidFill>
                  <a:srgbClr val="2C2C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和 </a:t>
            </a:r>
            <a:r>
              <a:rPr lang="en-US" sz="1200" dirty="0">
                <a:solidFill>
                  <a:srgbClr val="2C2C36"/>
                </a:solidFill>
              </a:rPr>
              <a:t>new_dialog_state</a:t>
            </a:r>
            <a:r>
              <a:rPr lang="en-US" sz="1200" dirty="0">
                <a:solidFill>
                  <a:srgbClr val="2C2C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）的函数。这些信息在 </a:t>
            </a:r>
            <a:r>
              <a:rPr lang="en-US" sz="1200" dirty="0">
                <a:solidFill>
                  <a:srgbClr val="2C2C36"/>
                </a:solidFill>
              </a:rPr>
              <a:t>create_entry_node</a:t>
            </a:r>
            <a:r>
              <a:rPr lang="en-US" sz="1200" dirty="0">
                <a:solidFill>
                  <a:srgbClr val="2C2C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函数被调用时确定，并且可以在返回的 </a:t>
            </a:r>
            <a:r>
              <a:rPr lang="en-US" sz="1200" dirty="0">
                <a:solidFill>
                  <a:srgbClr val="2C2C36"/>
                </a:solidFill>
              </a:rPr>
              <a:t>entry_node</a:t>
            </a:r>
            <a:r>
              <a:rPr lang="en-US" sz="1200" dirty="0">
                <a:solidFill>
                  <a:srgbClr val="2C2C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函数中使用。</a:t>
            </a:r>
            <a:endParaRPr lang="en-US" sz="1500" dirty="0"/>
          </a:p>
          <a:p>
            <a:r>
              <a:rPr lang="en-US" sz="1200" b="1" dirty="0">
                <a:solidFill>
                  <a:srgbClr val="2C2C36"/>
                </a:solidFill>
              </a:rPr>
              <a:t>封装和复用</a:t>
            </a:r>
            <a:r>
              <a:rPr lang="en-US" sz="1200" dirty="0">
                <a:solidFill>
                  <a:srgbClr val="2C2C36"/>
                </a:solidFill>
              </a:rPr>
              <a:t>：闭包使得您可以将特定行为（这里是生成带有特定内容的消息和对话状态）与某些参数（如助理名称和新的对话状态）封装在一起，从而更容易地重用这个逻辑。</a:t>
            </a:r>
            <a:endParaRPr lang="en-US" sz="1500" dirty="0"/>
          </a:p>
          <a:p>
            <a:r>
              <a:rPr lang="en-US" sz="1200" b="1" dirty="0">
                <a:solidFill>
                  <a:srgbClr val="2C2C36"/>
                </a:solidFill>
              </a:rPr>
              <a:t>延迟执行</a:t>
            </a:r>
            <a:r>
              <a:rPr lang="en-US" sz="1200" dirty="0">
                <a:solidFill>
                  <a:srgbClr val="2C2C36"/>
                </a:solidFill>
              </a:rPr>
              <a:t>：闭包允许您定义一个行为或计算，然后在之后某个时刻执行它，这为更灵活的程序设计提供了可能。</a:t>
            </a:r>
            <a:r>
              <a:rPr lang="en-US" sz="1200" b="1" dirty="0">
                <a:solidFill>
                  <a:srgbClr val="2C2C36"/>
                </a:solidFill>
              </a:rPr>
              <a:t>具体实现</a:t>
            </a:r>
            <a:endParaRPr lang="en-US" sz="1500" dirty="0"/>
          </a:p>
          <a:p>
            <a:r>
              <a:rPr lang="en-US" sz="1200" dirty="0">
                <a:solidFill>
                  <a:srgbClr val="2C2C36"/>
                </a:solidFill>
              </a:rPr>
              <a:t>create_entry_node</a:t>
            </a:r>
            <a:r>
              <a:rPr lang="en-US" sz="1200" dirty="0">
                <a:solidFill>
                  <a:srgbClr val="2C2C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接受两个参数：</a:t>
            </a:r>
            <a:r>
              <a:rPr lang="en-US" sz="1200" dirty="0">
                <a:solidFill>
                  <a:srgbClr val="2C2C36"/>
                </a:solidFill>
              </a:rPr>
              <a:t>assistant_name</a:t>
            </a:r>
            <a:r>
              <a:rPr lang="en-US" sz="1200" dirty="0">
                <a:solidFill>
                  <a:srgbClr val="2C2C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 </a:t>
            </a:r>
            <a:r>
              <a:rPr lang="en-US" sz="1200" dirty="0">
                <a:solidFill>
                  <a:srgbClr val="2C2C36"/>
                </a:solidFill>
              </a:rPr>
              <a:t>new_dialog_state</a:t>
            </a:r>
            <a:r>
              <a:rPr lang="en-US" sz="1200" dirty="0">
                <a:solidFill>
                  <a:srgbClr val="2C2C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。它返回一个新的函数 </a:t>
            </a:r>
            <a:r>
              <a:rPr lang="en-US" sz="1200" dirty="0">
                <a:solidFill>
                  <a:srgbClr val="2C2C36"/>
                </a:solidFill>
              </a:rPr>
              <a:t>entry_node</a:t>
            </a:r>
            <a:r>
              <a:rPr lang="en-US" sz="1200" dirty="0">
                <a:solidFill>
                  <a:srgbClr val="2C2C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500" dirty="0"/>
          </a:p>
          <a:p>
            <a:r>
              <a:rPr lang="en-US" sz="1200" dirty="0">
                <a:solidFill>
                  <a:srgbClr val="2C2C36"/>
                </a:solidFill>
              </a:rPr>
              <a:t>返回的 entry_node</a:t>
            </a:r>
            <a:r>
              <a:rPr lang="en-US" sz="1200" dirty="0">
                <a:solidFill>
                  <a:srgbClr val="2C2C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函数接受一个 </a:t>
            </a:r>
            <a:r>
              <a:rPr lang="en-US" sz="1200" dirty="0">
                <a:solidFill>
                  <a:srgbClr val="2C2C36"/>
                </a:solidFill>
              </a:rPr>
              <a:t>state</a:t>
            </a:r>
            <a:r>
              <a:rPr lang="en-US" sz="1200" dirty="0">
                <a:solidFill>
                  <a:srgbClr val="2C2C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参数，代表当前对话的状态。这就满足了定制节点的要求。</a:t>
            </a:r>
            <a:endParaRPr lang="en-US" sz="1500" dirty="0"/>
          </a:p>
          <a:p>
            <a:r>
              <a:rPr lang="en-US" sz="1200" dirty="0">
                <a:solidFill>
                  <a:srgbClr val="2C2C36"/>
                </a:solidFill>
              </a:rPr>
              <a:t>然后，构造并返回一个字典，其中包含一条新消息（通过 ToolMessage</a:t>
            </a:r>
            <a:r>
              <a:rPr lang="en-US" sz="1200" dirty="0">
                <a:solidFill>
                  <a:srgbClr val="2C2C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类实例化）和更新后的对话状态 (</a:t>
            </a:r>
            <a:r>
              <a:rPr lang="en-US" sz="1200" dirty="0">
                <a:solidFill>
                  <a:srgbClr val="2C2C36"/>
                </a:solidFill>
              </a:rPr>
              <a:t>new_dialog_state</a:t>
            </a:r>
            <a:r>
              <a:rPr lang="en-US" sz="1200" dirty="0">
                <a:solidFill>
                  <a:srgbClr val="2C2C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)。这条消息的内容是根据传入的 </a:t>
            </a:r>
            <a:r>
              <a:rPr lang="en-US" sz="1200" dirty="0">
                <a:solidFill>
                  <a:srgbClr val="2C2C36"/>
                </a:solidFill>
              </a:rPr>
              <a:t>assistant_name</a:t>
            </a:r>
            <a:r>
              <a:rPr lang="en-US" sz="1200" dirty="0">
                <a:solidFill>
                  <a:srgbClr val="2C2C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定制的，并指导助手如何行动。</a:t>
            </a:r>
            <a:endParaRPr lang="en-US" sz="1500" dirty="0"/>
          </a:p>
          <a:p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2246370" y="193976"/>
            <a:ext cx="48181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为什么要使用闭包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565872" y="-4982706"/>
            <a:ext cx="8012256" cy="7986023"/>
          </a:xfrm>
          <a:custGeom>
            <a:avLst/>
            <a:gdLst/>
            <a:ahLst/>
            <a:cxnLst/>
            <a:rect l="l" t="t" r="r" b="b"/>
            <a:pathLst>
              <a:path w="8012256" h="7986023">
                <a:moveTo>
                  <a:pt x="4006128" y="0"/>
                </a:moveTo>
                <a:cubicBezTo>
                  <a:pt x="6217170" y="0"/>
                  <a:pt x="8012256" y="1789208"/>
                  <a:pt x="8012256" y="3993011"/>
                </a:cubicBezTo>
                <a:cubicBezTo>
                  <a:pt x="8012256" y="6196815"/>
                  <a:pt x="6217170" y="7986023"/>
                  <a:pt x="4006128" y="7986023"/>
                </a:cubicBezTo>
                <a:cubicBezTo>
                  <a:pt x="1795086" y="7986023"/>
                  <a:pt x="0" y="6196815"/>
                  <a:pt x="0" y="3993011"/>
                </a:cubicBezTo>
                <a:cubicBezTo>
                  <a:pt x="0" y="1789208"/>
                  <a:pt x="1795086" y="0"/>
                  <a:pt x="4006128" y="0"/>
                </a:cubicBezTo>
                <a:close/>
              </a:path>
            </a:pathLst>
          </a:custGeom>
          <a:solidFill>
            <a:srgbClr val="5B9BD5"/>
          </a:solidFill>
        </p:spPr>
      </p:sp>
      <p:sp>
        <p:nvSpPr>
          <p:cNvPr id="4" name="Object3"/>
          <p:cNvSpPr/>
          <p:nvPr/>
        </p:nvSpPr>
        <p:spPr>
          <a:xfrm>
            <a:off x="1031411" y="675221"/>
            <a:ext cx="7164608" cy="4663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定义工作流图：我们首先定义专业的子助理，每个子助理都是一个子工作流。每个子工作流，采用了5个节点：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1、enter_*：使用上面定义的create_entry_node实用程序来添加一个ToolMessage，表示新的专业助手正在掌舵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2、助手：提示+LLM组合，它接受当前状态，并使用工具、向用户提问或结束工作流（返回主助手）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3、*_safe_tools：助手可以使用但无需用户确认的“只读”工具。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4、*_sensitive_tools：具有“写”访问权限的工具，需要用户确认（在我们编译图表时将分配interrupt_before）</a:t>
            </a:r>
            <a:endParaRPr lang="en-US" sz="1500" dirty="0"/>
          </a:p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5、leave_skill：弹出dialog_state，表示主助手已重新控制</a:t>
            </a:r>
            <a:endParaRPr lang="en-US" sz="1500" dirty="0"/>
          </a:p>
          <a:p>
            <a:endParaRPr lang="en-US" sz="1500" dirty="0"/>
          </a:p>
          <a:p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2246370" y="193976"/>
            <a:ext cx="48181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拆分为专业工作流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565872" y="-4982706"/>
            <a:ext cx="8012256" cy="7986023"/>
          </a:xfrm>
          <a:custGeom>
            <a:avLst/>
            <a:gdLst/>
            <a:ahLst/>
            <a:cxnLst/>
            <a:rect l="l" t="t" r="r" b="b"/>
            <a:pathLst>
              <a:path w="8012256" h="7986023">
                <a:moveTo>
                  <a:pt x="4006128" y="0"/>
                </a:moveTo>
                <a:cubicBezTo>
                  <a:pt x="6217170" y="0"/>
                  <a:pt x="8012256" y="1789208"/>
                  <a:pt x="8012256" y="3993011"/>
                </a:cubicBezTo>
                <a:cubicBezTo>
                  <a:pt x="8012256" y="6196815"/>
                  <a:pt x="6217170" y="7986023"/>
                  <a:pt x="4006128" y="7986023"/>
                </a:cubicBezTo>
                <a:cubicBezTo>
                  <a:pt x="1795086" y="7986023"/>
                  <a:pt x="0" y="6196815"/>
                  <a:pt x="0" y="3993011"/>
                </a:cubicBezTo>
                <a:cubicBezTo>
                  <a:pt x="0" y="1789208"/>
                  <a:pt x="1795086" y="0"/>
                  <a:pt x="4006128" y="0"/>
                </a:cubicBezTo>
                <a:close/>
              </a:path>
            </a:pathLst>
          </a:custGeom>
          <a:solidFill>
            <a:srgbClr val="5B9BD5"/>
          </a:solidFill>
        </p:spPr>
      </p:sp>
      <p:sp>
        <p:nvSpPr>
          <p:cNvPr id="4" name="Object3"/>
          <p:cNvSpPr/>
          <p:nvPr/>
        </p:nvSpPr>
        <p:spPr>
          <a:xfrm>
            <a:off x="2246370" y="193976"/>
            <a:ext cx="48181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拆分为专业工作流</a:t>
            </a:r>
            <a:endParaRPr lang="en-US" sz="1500" dirty="0"/>
          </a:p>
        </p:txBody>
      </p:sp>
      <p:pic>
        <p:nvPicPr>
          <p:cNvPr id="5" name="Object 4" descr="https://fynotefile.oss-cn-zhangjiakou.aliyuncs.com/fynote/fyfile/482/576633/6c23dd933476478ead46e345e4d715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014" y="866883"/>
            <a:ext cx="6473076" cy="42728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565872" y="-4982706"/>
            <a:ext cx="8012256" cy="7986023"/>
          </a:xfrm>
          <a:custGeom>
            <a:avLst/>
            <a:gdLst/>
            <a:ahLst/>
            <a:cxnLst/>
            <a:rect l="l" t="t" r="r" b="b"/>
            <a:pathLst>
              <a:path w="8012256" h="7986023">
                <a:moveTo>
                  <a:pt x="4006128" y="0"/>
                </a:moveTo>
                <a:cubicBezTo>
                  <a:pt x="6217170" y="0"/>
                  <a:pt x="8012256" y="1789208"/>
                  <a:pt x="8012256" y="3993011"/>
                </a:cubicBezTo>
                <a:cubicBezTo>
                  <a:pt x="8012256" y="6196815"/>
                  <a:pt x="6217170" y="7986023"/>
                  <a:pt x="4006128" y="7986023"/>
                </a:cubicBezTo>
                <a:cubicBezTo>
                  <a:pt x="1795086" y="7986023"/>
                  <a:pt x="0" y="6196815"/>
                  <a:pt x="0" y="3993011"/>
                </a:cubicBezTo>
                <a:cubicBezTo>
                  <a:pt x="0" y="1789208"/>
                  <a:pt x="1795086" y="0"/>
                  <a:pt x="4006128" y="0"/>
                </a:cubicBezTo>
                <a:close/>
              </a:path>
            </a:pathLst>
          </a:custGeom>
          <a:solidFill>
            <a:srgbClr val="5B9BD5"/>
          </a:solidFill>
        </p:spPr>
      </p:sp>
      <p:sp>
        <p:nvSpPr>
          <p:cNvPr id="4" name="Object3"/>
          <p:cNvSpPr/>
          <p:nvPr/>
        </p:nvSpPr>
        <p:spPr>
          <a:xfrm>
            <a:off x="1676557" y="76649"/>
            <a:ext cx="5790886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为什么每个子图都需要一个入口节点</a:t>
            </a:r>
            <a:endParaRPr lang="en-US" sz="1500" dirty="0"/>
          </a:p>
        </p:txBody>
      </p:sp>
      <p:pic>
        <p:nvPicPr>
          <p:cNvPr id="5" name="Object 4" descr="https://fynotefile.oss-cn-zhangjiakou.aliyuncs.com/fynote/fyfile/482/576633/73b0044cbb8f46ab96320d5ceefbf3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881" y="608910"/>
            <a:ext cx="6218721" cy="45345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565872" y="-4982706"/>
            <a:ext cx="8012256" cy="7986023"/>
          </a:xfrm>
          <a:custGeom>
            <a:avLst/>
            <a:gdLst/>
            <a:ahLst/>
            <a:cxnLst/>
            <a:rect l="l" t="t" r="r" b="b"/>
            <a:pathLst>
              <a:path w="8012256" h="7986023">
                <a:moveTo>
                  <a:pt x="4006128" y="0"/>
                </a:moveTo>
                <a:cubicBezTo>
                  <a:pt x="6217170" y="0"/>
                  <a:pt x="8012256" y="1789208"/>
                  <a:pt x="8012256" y="3993011"/>
                </a:cubicBezTo>
                <a:cubicBezTo>
                  <a:pt x="8012256" y="6196815"/>
                  <a:pt x="6217170" y="7986023"/>
                  <a:pt x="4006128" y="7986023"/>
                </a:cubicBezTo>
                <a:cubicBezTo>
                  <a:pt x="1795086" y="7986023"/>
                  <a:pt x="0" y="6196815"/>
                  <a:pt x="0" y="3993011"/>
                </a:cubicBezTo>
                <a:cubicBezTo>
                  <a:pt x="0" y="1789208"/>
                  <a:pt x="1795086" y="0"/>
                  <a:pt x="4006128" y="0"/>
                </a:cubicBezTo>
                <a:close/>
              </a:path>
            </a:pathLst>
          </a:custGeom>
          <a:solidFill>
            <a:srgbClr val="5B9BD5"/>
          </a:solidFill>
        </p:spPr>
      </p:sp>
      <p:sp>
        <p:nvSpPr>
          <p:cNvPr id="4" name="Object3"/>
          <p:cNvSpPr/>
          <p:nvPr/>
        </p:nvSpPr>
        <p:spPr>
          <a:xfrm>
            <a:off x="1031411" y="675221"/>
            <a:ext cx="7164608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endParaRPr lang="en-US" sz="1500" dirty="0"/>
          </a:p>
          <a:p>
            <a:endParaRPr lang="en-US" sz="1500" dirty="0"/>
          </a:p>
          <a:p>
            <a:endParaRPr lang="en-US" sz="1500" dirty="0"/>
          </a:p>
          <a:p>
            <a:endParaRPr lang="en-US" sz="1500" dirty="0"/>
          </a:p>
          <a:p>
            <a:endParaRPr lang="en-US" sz="1500" dirty="0"/>
          </a:p>
          <a:p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2246370" y="193976"/>
            <a:ext cx="48181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定义主助手和工作流</a:t>
            </a:r>
            <a:endParaRPr lang="en-US" sz="1500" dirty="0"/>
          </a:p>
        </p:txBody>
      </p:sp>
      <p:pic>
        <p:nvPicPr>
          <p:cNvPr id="6" name="Object 5" descr="https://fynotefile.oss-cn-zhangjiakou.aliyuncs.com/fynote/fyfile/482/576633/35e8cf11a7d04ba490aef877284a45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72" y="812466"/>
            <a:ext cx="7854696" cy="395935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607587" y="-4921908"/>
            <a:ext cx="8012256" cy="7986023"/>
          </a:xfrm>
          <a:custGeom>
            <a:avLst/>
            <a:gdLst/>
            <a:ahLst/>
            <a:cxnLst/>
            <a:rect l="l" t="t" r="r" b="b"/>
            <a:pathLst>
              <a:path w="8012256" h="7986023">
                <a:moveTo>
                  <a:pt x="4006128" y="0"/>
                </a:moveTo>
                <a:cubicBezTo>
                  <a:pt x="6217170" y="0"/>
                  <a:pt x="8012256" y="1789208"/>
                  <a:pt x="8012256" y="3993011"/>
                </a:cubicBezTo>
                <a:cubicBezTo>
                  <a:pt x="8012256" y="6196815"/>
                  <a:pt x="6217170" y="7986023"/>
                  <a:pt x="4006128" y="7986023"/>
                </a:cubicBezTo>
                <a:cubicBezTo>
                  <a:pt x="1795086" y="7986023"/>
                  <a:pt x="0" y="6196815"/>
                  <a:pt x="0" y="3993011"/>
                </a:cubicBezTo>
                <a:cubicBezTo>
                  <a:pt x="0" y="1789208"/>
                  <a:pt x="1795086" y="0"/>
                  <a:pt x="4006128" y="0"/>
                </a:cubicBezTo>
                <a:close/>
              </a:path>
            </a:pathLst>
          </a:custGeom>
          <a:solidFill>
            <a:srgbClr val="5B9BD5"/>
          </a:solidFill>
        </p:spPr>
      </p:sp>
      <p:sp>
        <p:nvSpPr>
          <p:cNvPr id="4" name="Object3"/>
          <p:cNvSpPr/>
          <p:nvPr/>
        </p:nvSpPr>
        <p:spPr>
          <a:xfrm>
            <a:off x="1031411" y="675221"/>
            <a:ext cx="7164608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endParaRPr lang="en-US" sz="1500" dirty="0"/>
          </a:p>
          <a:p>
            <a:endParaRPr lang="en-US" sz="1500" dirty="0"/>
          </a:p>
          <a:p>
            <a:endParaRPr lang="en-US" sz="1500" dirty="0"/>
          </a:p>
          <a:p>
            <a:endParaRPr lang="en-US" sz="1500" dirty="0"/>
          </a:p>
          <a:p>
            <a:endParaRPr lang="en-US" sz="1500" dirty="0"/>
          </a:p>
          <a:p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2246370" y="-71200"/>
            <a:ext cx="4818120" cy="2459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1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为什么需要route_primary_assistant和route_to_workflow</a:t>
            </a:r>
            <a:endParaRPr lang="en-US" sz="1500" dirty="0"/>
          </a:p>
          <a:p>
            <a:endParaRPr lang="en-US" sz="1500" dirty="0"/>
          </a:p>
          <a:p>
            <a:endParaRPr lang="en-US" sz="1500" dirty="0"/>
          </a:p>
        </p:txBody>
      </p:sp>
      <p:pic>
        <p:nvPicPr>
          <p:cNvPr id="6" name="Object 5" descr="https://fynotefile.oss-cn-zhangjiakou.aliyuncs.com/fynote/fyfile/482/576633/848c75f9e525445386a18d89e2467c9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1149858"/>
            <a:ext cx="7982712" cy="33192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482/576633/0202459b37fc4169ad94a74e944af9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21" y="734767"/>
            <a:ext cx="7867954" cy="4175730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607587" y="-4921908"/>
            <a:ext cx="8012256" cy="7986023"/>
          </a:xfrm>
          <a:custGeom>
            <a:avLst/>
            <a:gdLst/>
            <a:ahLst/>
            <a:cxnLst/>
            <a:rect l="l" t="t" r="r" b="b"/>
            <a:pathLst>
              <a:path w="8012256" h="7986023">
                <a:moveTo>
                  <a:pt x="4006128" y="0"/>
                </a:moveTo>
                <a:cubicBezTo>
                  <a:pt x="6217170" y="0"/>
                  <a:pt x="8012256" y="1789208"/>
                  <a:pt x="8012256" y="3993011"/>
                </a:cubicBezTo>
                <a:cubicBezTo>
                  <a:pt x="8012256" y="6196815"/>
                  <a:pt x="6217170" y="7986023"/>
                  <a:pt x="4006128" y="7986023"/>
                </a:cubicBezTo>
                <a:cubicBezTo>
                  <a:pt x="1795086" y="7986023"/>
                  <a:pt x="0" y="6196815"/>
                  <a:pt x="0" y="3993011"/>
                </a:cubicBezTo>
                <a:cubicBezTo>
                  <a:pt x="0" y="1789208"/>
                  <a:pt x="1795086" y="0"/>
                  <a:pt x="4006128" y="0"/>
                </a:cubicBezTo>
                <a:close/>
              </a:path>
            </a:pathLst>
          </a:custGeom>
          <a:solidFill>
            <a:srgbClr val="5B9BD5"/>
          </a:solidFill>
        </p:spPr>
      </p:sp>
      <p:sp>
        <p:nvSpPr>
          <p:cNvPr id="5" name="Object4"/>
          <p:cNvSpPr/>
          <p:nvPr/>
        </p:nvSpPr>
        <p:spPr>
          <a:xfrm>
            <a:off x="1031411" y="675221"/>
            <a:ext cx="7164608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endParaRPr lang="en-US" sz="1500" dirty="0"/>
          </a:p>
          <a:p>
            <a:endParaRPr lang="en-US" sz="1500" dirty="0"/>
          </a:p>
          <a:p>
            <a:endParaRPr lang="en-US" sz="1500" dirty="0"/>
          </a:p>
          <a:p>
            <a:endParaRPr lang="en-US" sz="1500" dirty="0"/>
          </a:p>
          <a:p>
            <a:endParaRPr lang="en-US" sz="1500" dirty="0"/>
          </a:p>
          <a:p>
            <a:endParaRPr lang="en-US" sz="1500" dirty="0"/>
          </a:p>
        </p:txBody>
      </p:sp>
      <p:sp>
        <p:nvSpPr>
          <p:cNvPr id="6" name="Object5"/>
          <p:cNvSpPr/>
          <p:nvPr/>
        </p:nvSpPr>
        <p:spPr>
          <a:xfrm>
            <a:off x="2246370" y="-281512"/>
            <a:ext cx="4818120" cy="2459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1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为什么需要route_primary_assistant和route_to_workflow</a:t>
            </a:r>
            <a:endParaRPr lang="en-US" sz="1500" dirty="0"/>
          </a:p>
          <a:p>
            <a:endParaRPr lang="en-US" sz="1500" dirty="0"/>
          </a:p>
          <a:p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565872" y="-4982706"/>
            <a:ext cx="8012256" cy="7986023"/>
          </a:xfrm>
          <a:custGeom>
            <a:avLst/>
            <a:gdLst/>
            <a:ahLst/>
            <a:cxnLst/>
            <a:rect l="l" t="t" r="r" b="b"/>
            <a:pathLst>
              <a:path w="8012256" h="7986023">
                <a:moveTo>
                  <a:pt x="4006128" y="0"/>
                </a:moveTo>
                <a:cubicBezTo>
                  <a:pt x="6217170" y="0"/>
                  <a:pt x="8012256" y="1789208"/>
                  <a:pt x="8012256" y="3993011"/>
                </a:cubicBezTo>
                <a:cubicBezTo>
                  <a:pt x="8012256" y="6196815"/>
                  <a:pt x="6217170" y="7986023"/>
                  <a:pt x="4006128" y="7986023"/>
                </a:cubicBezTo>
                <a:cubicBezTo>
                  <a:pt x="1795086" y="7986023"/>
                  <a:pt x="0" y="6196815"/>
                  <a:pt x="0" y="3993011"/>
                </a:cubicBezTo>
                <a:cubicBezTo>
                  <a:pt x="0" y="1789208"/>
                  <a:pt x="1795086" y="0"/>
                  <a:pt x="4006128" y="0"/>
                </a:cubicBezTo>
                <a:close/>
              </a:path>
            </a:pathLst>
          </a:custGeom>
          <a:solidFill>
            <a:srgbClr val="5B9BD5"/>
          </a:solidFill>
        </p:spPr>
      </p:sp>
      <p:sp>
        <p:nvSpPr>
          <p:cNvPr id="4" name="Object3"/>
          <p:cNvSpPr/>
          <p:nvPr/>
        </p:nvSpPr>
        <p:spPr>
          <a:xfrm>
            <a:off x="2246370" y="193976"/>
            <a:ext cx="48181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最终的工作流</a:t>
            </a:r>
            <a:endParaRPr lang="en-US" sz="1500" dirty="0"/>
          </a:p>
        </p:txBody>
      </p:sp>
      <p:pic>
        <p:nvPicPr>
          <p:cNvPr id="5" name="Object 4" descr="https://fynotefile.oss-cn-zhangjiakou.aliyuncs.com/fynote/fyfile/482/576633/ae68dd035a1c4c3db8692e3db1e6e5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5338"/>
            <a:ext cx="9144000" cy="309282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565872" y="-4982706"/>
            <a:ext cx="8012256" cy="7986023"/>
          </a:xfrm>
          <a:custGeom>
            <a:avLst/>
            <a:gdLst/>
            <a:ahLst/>
            <a:cxnLst/>
            <a:rect l="l" t="t" r="r" b="b"/>
            <a:pathLst>
              <a:path w="8012256" h="7986023">
                <a:moveTo>
                  <a:pt x="4006128" y="0"/>
                </a:moveTo>
                <a:cubicBezTo>
                  <a:pt x="6217170" y="0"/>
                  <a:pt x="8012256" y="1789208"/>
                  <a:pt x="8012256" y="3993011"/>
                </a:cubicBezTo>
                <a:cubicBezTo>
                  <a:pt x="8012256" y="6196815"/>
                  <a:pt x="6217170" y="7986023"/>
                  <a:pt x="4006128" y="7986023"/>
                </a:cubicBezTo>
                <a:cubicBezTo>
                  <a:pt x="1795086" y="7986023"/>
                  <a:pt x="0" y="6196815"/>
                  <a:pt x="0" y="3993011"/>
                </a:cubicBezTo>
                <a:cubicBezTo>
                  <a:pt x="0" y="1789208"/>
                  <a:pt x="1795086" y="0"/>
                  <a:pt x="4006128" y="0"/>
                </a:cubicBezTo>
                <a:close/>
              </a:path>
            </a:pathLst>
          </a:custGeom>
          <a:solidFill>
            <a:srgbClr val="5B9BD5"/>
          </a:solidFill>
        </p:spPr>
      </p:sp>
      <p:sp>
        <p:nvSpPr>
          <p:cNvPr id="4" name="Object3"/>
          <p:cNvSpPr/>
          <p:nvPr/>
        </p:nvSpPr>
        <p:spPr>
          <a:xfrm>
            <a:off x="2246370" y="193976"/>
            <a:ext cx="48181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增加一个WebUI的测试页面</a:t>
            </a:r>
            <a:endParaRPr lang="en-US" sz="1500" dirty="0"/>
          </a:p>
        </p:txBody>
      </p:sp>
      <p:pic>
        <p:nvPicPr>
          <p:cNvPr id="5" name="Object 4" descr="https://fynotefile.oss-cn-zhangjiakou.aliyuncs.com/fynote/fyfile/482/576633/49e57eb1e5aa4e41a4c2dd7e1b63e7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44" y="761335"/>
            <a:ext cx="7442313" cy="42917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565872" y="-4982706"/>
            <a:ext cx="8012256" cy="7986023"/>
          </a:xfrm>
          <a:custGeom>
            <a:avLst/>
            <a:gdLst/>
            <a:ahLst/>
            <a:cxnLst/>
            <a:rect l="l" t="t" r="r" b="b"/>
            <a:pathLst>
              <a:path w="8012256" h="7986023">
                <a:moveTo>
                  <a:pt x="4006128" y="0"/>
                </a:moveTo>
                <a:cubicBezTo>
                  <a:pt x="6217170" y="0"/>
                  <a:pt x="8012256" y="1789208"/>
                  <a:pt x="8012256" y="3993011"/>
                </a:cubicBezTo>
                <a:cubicBezTo>
                  <a:pt x="8012256" y="6196815"/>
                  <a:pt x="6217170" y="7986023"/>
                  <a:pt x="4006128" y="7986023"/>
                </a:cubicBezTo>
                <a:cubicBezTo>
                  <a:pt x="1795086" y="7986023"/>
                  <a:pt x="0" y="6196815"/>
                  <a:pt x="0" y="3993011"/>
                </a:cubicBezTo>
                <a:cubicBezTo>
                  <a:pt x="0" y="1789208"/>
                  <a:pt x="1795086" y="0"/>
                  <a:pt x="4006128" y="0"/>
                </a:cubicBezTo>
                <a:close/>
              </a:path>
            </a:pathLst>
          </a:custGeom>
          <a:solidFill>
            <a:srgbClr val="5B9BD5"/>
          </a:solidFill>
        </p:spPr>
      </p:sp>
      <p:sp>
        <p:nvSpPr>
          <p:cNvPr id="4" name="Object3"/>
          <p:cNvSpPr/>
          <p:nvPr/>
        </p:nvSpPr>
        <p:spPr>
          <a:xfrm>
            <a:off x="2246370" y="193976"/>
            <a:ext cx="48181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本地LangGraph服务器部署</a:t>
            </a:r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353537" y="1810445"/>
            <a:ext cx="3118221" cy="1422306"/>
          </a:xfrm>
          <a:custGeom>
            <a:avLst/>
            <a:gdLst/>
            <a:ahLst/>
            <a:cxnLst/>
            <a:rect l="l" t="t" r="r" b="b"/>
            <a:pathLst>
              <a:path w="3118221" h="1422306">
                <a:moveTo>
                  <a:pt x="1559110" y="0"/>
                </a:moveTo>
                <a:cubicBezTo>
                  <a:pt x="2419607" y="0"/>
                  <a:pt x="3118221" y="318657"/>
                  <a:pt x="3118221" y="711153"/>
                </a:cubicBezTo>
                <a:cubicBezTo>
                  <a:pt x="3118221" y="1103649"/>
                  <a:pt x="2419607" y="1422306"/>
                  <a:pt x="1559110" y="1422306"/>
                </a:cubicBezTo>
                <a:cubicBezTo>
                  <a:pt x="698614" y="1422306"/>
                  <a:pt x="0" y="1103649"/>
                  <a:pt x="0" y="711153"/>
                </a:cubicBezTo>
                <a:cubicBezTo>
                  <a:pt x="0" y="318657"/>
                  <a:pt x="698614" y="0"/>
                  <a:pt x="155911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Object5"/>
          <p:cNvSpPr/>
          <p:nvPr/>
        </p:nvSpPr>
        <p:spPr>
          <a:xfrm>
            <a:off x="353537" y="1810445"/>
            <a:ext cx="3118221" cy="142230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现有项目中的界面</a:t>
            </a:r>
            <a:endParaRPr lang="en-US" sz="1500" dirty="0"/>
          </a:p>
          <a:p>
            <a:pPr algn="ctr"/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（HTML, vue， 移动端，小程序）</a:t>
            </a:r>
            <a:endParaRPr lang="en-US" sz="1500" dirty="0"/>
          </a:p>
        </p:txBody>
      </p:sp>
      <p:sp>
        <p:nvSpPr>
          <p:cNvPr id="7" name="Object6"/>
          <p:cNvSpPr/>
          <p:nvPr/>
        </p:nvSpPr>
        <p:spPr>
          <a:xfrm>
            <a:off x="6788127" y="1487151"/>
            <a:ext cx="1887619" cy="2450776"/>
          </a:xfrm>
          <a:custGeom>
            <a:avLst/>
            <a:gdLst/>
            <a:ahLst/>
            <a:cxnLst/>
            <a:rect l="l" t="t" r="r" b="b"/>
            <a:pathLst>
              <a:path w="1887619" h="2450776">
                <a:moveTo>
                  <a:pt x="188762" y="0"/>
                </a:moveTo>
                <a:lnTo>
                  <a:pt x="1698857" y="0"/>
                </a:lnTo>
                <a:quadBezTo>
                  <a:pt x="1887619" y="0"/>
                  <a:pt x="1887619" y="245078"/>
                </a:quadBezTo>
                <a:lnTo>
                  <a:pt x="1887619" y="2205698"/>
                </a:lnTo>
                <a:quadBezTo>
                  <a:pt x="1887619" y="2450776"/>
                  <a:pt x="1698857" y="2450776"/>
                </a:quadBezTo>
                <a:lnTo>
                  <a:pt x="188762" y="2450776"/>
                </a:lnTo>
                <a:quadBezTo>
                  <a:pt x="0" y="2450776"/>
                  <a:pt x="0" y="2205698"/>
                </a:quadBezTo>
                <a:lnTo>
                  <a:pt x="0" y="245078"/>
                </a:lnTo>
                <a:quadBezTo>
                  <a:pt x="0" y="0"/>
                  <a:pt x="188762" y="0"/>
                </a:quadBezTo>
                <a:close/>
              </a:path>
            </a:pathLst>
          </a:cu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Object7"/>
          <p:cNvSpPr/>
          <p:nvPr/>
        </p:nvSpPr>
        <p:spPr>
          <a:xfrm>
            <a:off x="6788127" y="1487151"/>
            <a:ext cx="1887619" cy="2450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LangGraph服务器</a:t>
            </a:r>
            <a:endParaRPr lang="en-US" sz="1500" dirty="0"/>
          </a:p>
          <a:p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（运行你的Graph）</a:t>
            </a:r>
            <a:endParaRPr lang="en-US" sz="1500" dirty="0"/>
          </a:p>
        </p:txBody>
      </p:sp>
      <p:sp>
        <p:nvSpPr>
          <p:cNvPr id="9" name="Object8"/>
          <p:cNvSpPr/>
          <p:nvPr/>
        </p:nvSpPr>
        <p:spPr>
          <a:xfrm>
            <a:off x="3419614" y="2321458"/>
            <a:ext cx="3358084" cy="0"/>
          </a:xfrm>
          <a:custGeom>
            <a:avLst/>
            <a:gdLst/>
            <a:ahLst/>
            <a:cxnLst/>
            <a:rect l="l" t="t" r="r" b="b"/>
            <a:pathLst>
              <a:path w="3358084">
                <a:moveTo>
                  <a:pt x="0" y="0"/>
                </a:moveTo>
                <a:lnTo>
                  <a:pt x="3358084" y="0"/>
                </a:lnTo>
              </a:path>
            </a:pathLst>
          </a:custGeom>
          <a:noFill/>
          <a:ln w="57150">
            <a:solidFill>
              <a:srgbClr val="5B9BD5"/>
            </a:solidFill>
            <a:prstDash val="solid"/>
            <a:headEnd type="none"/>
            <a:tailEnd type="arrow"/>
          </a:ln>
        </p:spPr>
      </p:sp>
      <p:sp>
        <p:nvSpPr>
          <p:cNvPr id="10" name="Object9"/>
          <p:cNvSpPr/>
          <p:nvPr/>
        </p:nvSpPr>
        <p:spPr>
          <a:xfrm>
            <a:off x="4118346" y="1758301"/>
            <a:ext cx="1898047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调用Rest API 接口</a:t>
            </a:r>
            <a:endParaRPr lang="en-US" sz="1500" dirty="0"/>
          </a:p>
        </p:txBody>
      </p:sp>
      <p:sp>
        <p:nvSpPr>
          <p:cNvPr id="11" name="Object10"/>
          <p:cNvSpPr/>
          <p:nvPr/>
        </p:nvSpPr>
        <p:spPr>
          <a:xfrm>
            <a:off x="3221466" y="2915901"/>
            <a:ext cx="3556232" cy="41715"/>
          </a:xfrm>
          <a:custGeom>
            <a:avLst/>
            <a:gdLst/>
            <a:ahLst/>
            <a:cxnLst/>
            <a:rect l="l" t="t" r="r" b="b"/>
            <a:pathLst>
              <a:path w="3556232" h="41715">
                <a:moveTo>
                  <a:pt x="3556232" y="41715"/>
                </a:moveTo>
                <a:lnTo>
                  <a:pt x="0" y="0"/>
                </a:lnTo>
              </a:path>
            </a:pathLst>
          </a:custGeom>
          <a:noFill/>
          <a:ln w="57150">
            <a:solidFill>
              <a:srgbClr val="5B9BD5"/>
            </a:solidFill>
            <a:prstDash val="solid"/>
            <a:headEnd type="none"/>
            <a:tailEnd type="arrow"/>
          </a:ln>
        </p:spPr>
      </p:sp>
      <p:sp>
        <p:nvSpPr>
          <p:cNvPr id="12" name="Object11"/>
          <p:cNvSpPr/>
          <p:nvPr/>
        </p:nvSpPr>
        <p:spPr>
          <a:xfrm>
            <a:off x="4269564" y="3051476"/>
            <a:ext cx="1595611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返回响应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565872" y="-4982706"/>
            <a:ext cx="8012256" cy="7986023"/>
          </a:xfrm>
          <a:custGeom>
            <a:avLst/>
            <a:gdLst/>
            <a:ahLst/>
            <a:cxnLst/>
            <a:rect l="l" t="t" r="r" b="b"/>
            <a:pathLst>
              <a:path w="8012256" h="7986023">
                <a:moveTo>
                  <a:pt x="4006128" y="0"/>
                </a:moveTo>
                <a:cubicBezTo>
                  <a:pt x="6217170" y="0"/>
                  <a:pt x="8012256" y="1789208"/>
                  <a:pt x="8012256" y="3993011"/>
                </a:cubicBezTo>
                <a:cubicBezTo>
                  <a:pt x="8012256" y="6196815"/>
                  <a:pt x="6217170" y="7986023"/>
                  <a:pt x="4006128" y="7986023"/>
                </a:cubicBezTo>
                <a:cubicBezTo>
                  <a:pt x="1795086" y="7986023"/>
                  <a:pt x="0" y="6196815"/>
                  <a:pt x="0" y="3993011"/>
                </a:cubicBezTo>
                <a:cubicBezTo>
                  <a:pt x="0" y="1789208"/>
                  <a:pt x="1795086" y="0"/>
                  <a:pt x="4006128" y="0"/>
                </a:cubicBezTo>
                <a:close/>
              </a:path>
            </a:pathLst>
          </a:custGeom>
          <a:solidFill>
            <a:srgbClr val="5B9BD5"/>
          </a:solidFill>
        </p:spPr>
      </p:sp>
      <p:sp>
        <p:nvSpPr>
          <p:cNvPr id="4" name="Object3"/>
          <p:cNvSpPr/>
          <p:nvPr/>
        </p:nvSpPr>
        <p:spPr>
          <a:xfrm>
            <a:off x="989696" y="727365"/>
            <a:ext cx="7164608" cy="4251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lnSpc>
                <a:spcPct val="75000"/>
              </a:lnSpc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 -m vllm.entrypoints.openai.api_server \</a:t>
            </a:r>
            <a:endParaRPr lang="en-US" sz="1500" dirty="0"/>
          </a:p>
          <a:p>
            <a:pPr>
              <a:lnSpc>
                <a:spcPct val="75000"/>
              </a:lnSpc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--model /root/autodl-tmp/models/deepseek-ai/DeepSeek-R1-Distill-Qwen-7B \</a:t>
            </a:r>
            <a:endParaRPr lang="en-US" sz="1500" dirty="0"/>
          </a:p>
          <a:p>
            <a:pPr>
              <a:lnSpc>
                <a:spcPct val="75000"/>
              </a:lnSpc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--served-model-name DeepSeek-R1-Distill-Qwen-7B \</a:t>
            </a:r>
            <a:endParaRPr lang="en-US" sz="1500" dirty="0"/>
          </a:p>
          <a:p>
            <a:pPr>
              <a:lnSpc>
                <a:spcPct val="75000"/>
              </a:lnSpc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--max-model-len=8192 \</a:t>
            </a:r>
            <a:endParaRPr lang="en-US" sz="1500" dirty="0"/>
          </a:p>
          <a:p>
            <a:pPr>
              <a:lnSpc>
                <a:spcPct val="75000"/>
              </a:lnSpc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--host 0.0.0.0 \</a:t>
            </a:r>
            <a:endParaRPr lang="en-US" sz="1500" dirty="0"/>
          </a:p>
          <a:p>
            <a:pPr>
              <a:lnSpc>
                <a:spcPct val="75000"/>
              </a:lnSpc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--port 6006 \</a:t>
            </a:r>
            <a:endParaRPr lang="en-US" sz="1500" dirty="0"/>
          </a:p>
          <a:p>
            <a:pPr>
              <a:lnSpc>
                <a:spcPct val="75000"/>
              </a:lnSpc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--dtype float16 \</a:t>
            </a:r>
            <a:endParaRPr lang="en-US" sz="1500" dirty="0"/>
          </a:p>
          <a:p>
            <a:pPr>
              <a:lnSpc>
                <a:spcPct val="75000"/>
              </a:lnSpc>
            </a:pPr>
            <a:endParaRPr lang="en-US" sz="1500" dirty="0"/>
          </a:p>
          <a:p>
            <a:pPr>
              <a:lnSpc>
                <a:spcPct val="75000"/>
              </a:lnSpc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 -m vllm.entrypoints.openai.api_server \</a:t>
            </a:r>
            <a:endParaRPr lang="en-US" sz="1500" dirty="0"/>
          </a:p>
          <a:p>
            <a:pPr>
              <a:lnSpc>
                <a:spcPct val="75000"/>
              </a:lnSpc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--model /root/autodl-tmp/models/Qwen/Qwen2___5-7B-Instruct \</a:t>
            </a:r>
            <a:endParaRPr lang="en-US" sz="1500" dirty="0"/>
          </a:p>
          <a:p>
            <a:pPr>
              <a:lnSpc>
                <a:spcPct val="75000"/>
              </a:lnSpc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--served-model-name Qwen-7B \</a:t>
            </a:r>
            <a:endParaRPr lang="en-US" sz="1500" dirty="0"/>
          </a:p>
          <a:p>
            <a:pPr>
              <a:lnSpc>
                <a:spcPct val="75000"/>
              </a:lnSpc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--max-model-len=16384 \</a:t>
            </a:r>
            <a:endParaRPr lang="en-US" sz="1500" dirty="0"/>
          </a:p>
          <a:p>
            <a:pPr>
              <a:lnSpc>
                <a:spcPct val="75000"/>
              </a:lnSpc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--host 0.0.0.0 \</a:t>
            </a:r>
            <a:endParaRPr lang="en-US" sz="1500" dirty="0"/>
          </a:p>
          <a:p>
            <a:pPr>
              <a:lnSpc>
                <a:spcPct val="75000"/>
              </a:lnSpc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--port 6006 \</a:t>
            </a:r>
            <a:endParaRPr lang="en-US" sz="1500" dirty="0"/>
          </a:p>
          <a:p>
            <a:pPr>
              <a:lnSpc>
                <a:spcPct val="75000"/>
              </a:lnSpc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--dtype float16 \</a:t>
            </a:r>
            <a:endParaRPr lang="en-US" sz="1500" dirty="0"/>
          </a:p>
          <a:p>
            <a:pPr>
              <a:lnSpc>
                <a:spcPct val="75000"/>
              </a:lnSpc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--enable-auto-tool-choice \</a:t>
            </a:r>
            <a:endParaRPr lang="en-US" sz="1500" dirty="0"/>
          </a:p>
          <a:p>
            <a:pPr>
              <a:lnSpc>
                <a:spcPct val="75000"/>
              </a:lnSpc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--tool-call-parser hermes</a:t>
            </a:r>
            <a:endParaRPr lang="en-US" sz="1500" dirty="0"/>
          </a:p>
          <a:p>
            <a:pPr>
              <a:lnSpc>
                <a:spcPct val="75000"/>
              </a:lnSpc>
            </a:pPr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2246370" y="193976"/>
            <a:ext cx="48181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部署大模型的命令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565872" y="-4982706"/>
            <a:ext cx="8012256" cy="7986023"/>
          </a:xfrm>
          <a:custGeom>
            <a:avLst/>
            <a:gdLst/>
            <a:ahLst/>
            <a:cxnLst/>
            <a:rect l="l" t="t" r="r" b="b"/>
            <a:pathLst>
              <a:path w="8012256" h="7986023">
                <a:moveTo>
                  <a:pt x="4006128" y="0"/>
                </a:moveTo>
                <a:cubicBezTo>
                  <a:pt x="6217170" y="0"/>
                  <a:pt x="8012256" y="1789208"/>
                  <a:pt x="8012256" y="3993011"/>
                </a:cubicBezTo>
                <a:cubicBezTo>
                  <a:pt x="8012256" y="6196815"/>
                  <a:pt x="6217170" y="7986023"/>
                  <a:pt x="4006128" y="7986023"/>
                </a:cubicBezTo>
                <a:cubicBezTo>
                  <a:pt x="1795086" y="7986023"/>
                  <a:pt x="0" y="6196815"/>
                  <a:pt x="0" y="3993011"/>
                </a:cubicBezTo>
                <a:cubicBezTo>
                  <a:pt x="0" y="1789208"/>
                  <a:pt x="1795086" y="0"/>
                  <a:pt x="4006128" y="0"/>
                </a:cubicBezTo>
                <a:close/>
              </a:path>
            </a:pathLst>
          </a:custGeom>
          <a:solidFill>
            <a:srgbClr val="5B9BD5"/>
          </a:solidFill>
        </p:spPr>
      </p:sp>
      <p:sp>
        <p:nvSpPr>
          <p:cNvPr id="4" name="Object3"/>
          <p:cNvSpPr/>
          <p:nvPr/>
        </p:nvSpPr>
        <p:spPr>
          <a:xfrm>
            <a:off x="989696" y="727365"/>
            <a:ext cx="716460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lnSpc>
                <a:spcPct val="75000"/>
              </a:lnSpc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https://blog.csdn.net/sunyuhua_keyboard/article/details/143974150</a:t>
            </a:r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2246370" y="193976"/>
            <a:ext cx="481812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部署大模型的命令</a:t>
            </a:r>
            <a:endParaRPr lang="en-US" sz="1500" dirty="0"/>
          </a:p>
        </p:txBody>
      </p:sp>
      <p:pic>
        <p:nvPicPr>
          <p:cNvPr id="6" name="Object 5" descr="https://fynotefile.oss-cn-zhangjiakou.aliyuncs.com/fynote/fyfile/482/576633/4312d55b75bb4aa3b6acc6b22159d5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550" y="1235293"/>
            <a:ext cx="6695248" cy="37934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830</Words>
  <Application>Microsoft Office PowerPoint</Application>
  <PresentationFormat>全屏显示(16:9)</PresentationFormat>
  <Paragraphs>175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1" baseType="lpstr">
      <vt:lpstr>等线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jiawei</cp:lastModifiedBy>
  <cp:revision>4</cp:revision>
  <dcterms:created xsi:type="dcterms:W3CDTF">2025-03-29T10:23:00Z</dcterms:created>
  <dcterms:modified xsi:type="dcterms:W3CDTF">2026-08-31T13:39:41Z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6234B0043B1E4246ADAEEE0ED3182660_12</vt:lpwstr>
  </property>
  <property fmtid="{D5CDD505-2E9C-101B-9397-08002B2CF9AE}" pid="3" name="KSOProductBuildVer">
    <vt:lpwstr>2052-12.1.0.21915</vt:lpwstr>
  </property>
</Properties>
</file>