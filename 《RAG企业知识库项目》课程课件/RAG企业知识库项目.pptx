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svg" ContentType="image/svg+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r>
          <p:cNvPicPr>
            <a:picLocks noChangeAspect="1"/>
          </p:cNvPicPr>
          <p:nvPr/>
        </p:nvPicPr>
        <p:blipFill>
          <a:blip r:embed="rId1"/>
          <a:stretch>
            <a:fillRect/>
          </a:stretch>
        </p:blipFill>
        <p:spPr>
          <a:xfrm>
            <a:off x="0" y="-2300"/>
            <a:ext cx="9144000" cy="4663887"/>
          </a:xfrm>
          <a:prstGeom prst="rect">
            <a:avLst/>
          </a:prstGeom>
        </p:spPr>
      </p:pic>
      <p:sp>
        <p:nvSpPr>
          <p:cNvPr id="3" name="Object2"/>
          <p:cNvSpPr/>
          <p:nvPr/>
        </p:nvSpPr>
        <p:spPr>
          <a:xfrm>
            <a:off x="764056" y="1664780"/>
            <a:ext cx="7615888" cy="906971"/>
          </a:xfrm>
          <a:prstGeom prst="rect">
            <a:avLst/>
          </a:prstGeom>
          <a:noFill/>
          <a:ln/>
        </p:spPr>
        <p:txBody>
          <a:bodyPr wrap="square" rtlCol="0" anchor="ctr"/>
          <a:lstStyle/>
          <a:p>
            <a:pPr algn="ctr">
              <a:lnSpc>
                <a:spcPct val="90000"/>
              </a:lnSpc>
            </a:pPr>
            <a:r>
              <a:rPr lang="en-US" sz="5000" b="1" dirty="0">
                <a:solidFill>
                  <a:srgbClr val="666666"/>
                </a:solidFill>
                <a:latin typeface="Microsoft Yahei" pitchFamily="34" charset="0"/>
                <a:ea typeface="Microsoft Yahei" pitchFamily="34" charset="-122"/>
                <a:cs typeface="Microsoft Yahei" pitchFamily="34" charset="-120"/>
              </a:rPr>
              <a:t>RAG企业知识库项目</a:t>
            </a:r>
            <a:endParaRPr lang="en-US" sz="1500" dirty="0"/>
          </a:p>
        </p:txBody>
      </p:sp>
      <p:sp>
        <p:nvSpPr>
          <p:cNvPr id="4" name="Object3"/>
          <p:cNvSpPr/>
          <p:nvPr/>
        </p:nvSpPr>
        <p:spPr>
          <a:xfrm>
            <a:off x="1897380" y="2671019"/>
            <a:ext cx="5349240" cy="512064"/>
          </a:xfrm>
          <a:prstGeom prst="rect">
            <a:avLst/>
          </a:prstGeom>
          <a:noFill/>
          <a:ln/>
        </p:spPr>
        <p:txBody>
          <a:bodyPr wrap="square" rtlCol="0" anchor="ctr"/>
          <a:lstStyle/>
          <a:p>
            <a:pPr algn="ctr"/>
            <a:r>
              <a:rPr lang="en-US" sz="1800" dirty="0">
                <a:solidFill>
                  <a:srgbClr val="666666"/>
                </a:solidFill>
                <a:latin typeface="Microsoft Yahei" pitchFamily="34" charset="0"/>
                <a:ea typeface="Microsoft Yahei" pitchFamily="34" charset="-122"/>
                <a:cs typeface="Microsoft Yahei" pitchFamily="34" charset="-120"/>
              </a:rPr>
              <a:t>讲师：肖斌</a:t>
            </a:r>
            <a:endParaRPr lang="en-US" sz="1500" dirty="0"/>
          </a:p>
        </p:txBody>
      </p:sp>
      <p:sp>
        <p:nvSpPr>
          <p:cNvPr id="5" name="Object4"/>
          <p:cNvSpPr/>
          <p:nvPr/>
        </p:nvSpPr>
        <p:spPr>
          <a:xfrm>
            <a:off x="8691286" y="2028552"/>
            <a:ext cx="0" cy="2411212"/>
          </a:xfrm>
          <a:custGeom>
            <a:avLst/>
            <a:gdLst/>
            <a:ahLst/>
            <a:cxnLst/>
            <a:rect l="l" t="t" r="r" b="b"/>
            <a:pathLst>
              <a:path w="0"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r>
          <p:cNvPicPr>
            <a:picLocks noChangeAspect="1"/>
          </p:cNvPicPr>
          <p:nvPr/>
        </p:nvPicPr>
        <p:blipFill>
          <a:blip r:embed="rId2"/>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r>
          <p:cNvPicPr>
            <a:picLocks noChangeAspect="1"/>
          </p:cNvPicPr>
          <p:nvPr/>
        </p:nvPicPr>
        <p:blipFill>
          <a:blip r:embed="rId3"/>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r>
          <p:cNvPicPr>
            <a:picLocks noChangeAspect="1"/>
          </p:cNvPicPr>
          <p:nvPr/>
        </p:nvPicPr>
        <p:blipFill>
          <a:blip r:embed="rId4"/>
          <a:stretch>
            <a:fillRect/>
          </a:stretch>
        </p:blipFill>
        <p:spPr>
          <a:xfrm>
            <a:off x="7633442" y="2886332"/>
            <a:ext cx="266271" cy="266271"/>
          </a:xfrm>
          <a:prstGeom prst="rect">
            <a:avLst/>
          </a:prstGeom>
        </p:spPr>
      </p:pic>
      <p:pic>
        <p:nvPicPr>
          <p:cNvPr id="10" name="Object 9" descr="https://fynotefile.oss-cn-zhangjiakou.aliyuncs.com/fynote/fyfile/3/1/09a55c53ed2b4a4d9ff43893669e9072.sv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60" y="127621"/>
            <a:ext cx="1346548" cy="351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650792" y="127621"/>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RAG的原理</a:t>
            </a:r>
            <a:endParaRPr lang="en-US" sz="1500" dirty="0"/>
          </a:p>
        </p:txBody>
      </p:sp>
      <p:sp>
        <p:nvSpPr>
          <p:cNvPr id="4" name="Object3"/>
          <p:cNvSpPr/>
          <p:nvPr/>
        </p:nvSpPr>
        <p:spPr>
          <a:xfrm>
            <a:off x="1067912" y="1174286"/>
            <a:ext cx="7008175" cy="1005840"/>
          </a:xfrm>
          <a:prstGeom prst="rect">
            <a:avLst/>
          </a:prstGeom>
          <a:noFill/>
          <a:ln/>
        </p:spPr>
        <p:txBody>
          <a:bodyPr wrap="square" rtlCol="0" anchor="ctr"/>
          <a:lstStyle/>
          <a:p>
            <a:r>
              <a:rPr lang="en-US" sz="1500" dirty="0">
                <a:solidFill>
                  <a:srgbClr val="333333"/>
                </a:solidFill>
                <a:latin typeface="Microsoft Yahei" pitchFamily="34" charset="0"/>
                <a:ea typeface="Microsoft Yahei" pitchFamily="34" charset="-122"/>
                <a:cs typeface="Microsoft Yahei" pitchFamily="34" charset="-120"/>
              </a:rPr>
              <a:t>RAG：Retrieval-Augmented Generation 检索增强生成。RAG通过结合LLMs的内在知识和外部数据库的非参数化数据，提高了模型在知识密集型任务中的准确性和可信度。</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9b33dd61b6d545a1b5c968269a9b6275.png">    </p:cNvPr>
          <p:cNvPicPr>
            <a:picLocks noChangeAspect="1"/>
          </p:cNvPicPr>
          <p:nvPr/>
        </p:nvPicPr>
        <p:blipFill>
          <a:blip r:embed="rId1"/>
          <a:stretch>
            <a:fillRect/>
          </a:stretch>
        </p:blipFill>
        <p:spPr>
          <a:xfrm>
            <a:off x="0" y="3724275"/>
            <a:ext cx="9144000" cy="1419225"/>
          </a:xfrm>
          <a:prstGeom prst="rect">
            <a:avLst/>
          </a:prstGeom>
        </p:spPr>
      </p:pic>
      <p:pic>
        <p:nvPicPr>
          <p:cNvPr id="3" name="Object 2" descr="https://fynotefile.oss-cn-zhangjiakou.aliyuncs.com/fynote/fyfile/3/1/09a55c53ed2b4a4d9ff43893669e9072.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060" y="127621"/>
            <a:ext cx="1346548" cy="351232"/>
          </a:xfrm>
          <a:prstGeom prst="rect">
            <a:avLst/>
          </a:prstGeom>
        </p:spPr>
      </p:pic>
      <p:sp>
        <p:nvSpPr>
          <p:cNvPr id="4" name="Object3"/>
          <p:cNvSpPr/>
          <p:nvPr/>
        </p:nvSpPr>
        <p:spPr>
          <a:xfrm>
            <a:off x="2751907" y="0"/>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RAG的原理</a:t>
            </a:r>
            <a:endParaRPr lang="en-US" sz="1500" dirty="0"/>
          </a:p>
        </p:txBody>
      </p:sp>
      <p:pic>
        <p:nvPicPr>
          <p:cNvPr id="5" name="Object 4" descr="https://fynotefile.oss-cn-zhangjiakou.aliyuncs.com/fynote/fyfile/482/517234/ed20aabb06784f469d05ca73188e5a30.png">    </p:cNvPr>
          <p:cNvPicPr>
            <a:picLocks noChangeAspect="1"/>
          </p:cNvPicPr>
          <p:nvPr/>
        </p:nvPicPr>
        <p:blipFill>
          <a:blip r:embed="rId4"/>
          <a:stretch>
            <a:fillRect/>
          </a:stretch>
        </p:blipFill>
        <p:spPr>
          <a:xfrm>
            <a:off x="1437748" y="556773"/>
            <a:ext cx="6874210" cy="45867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RAG项目的核心解决方案</a:t>
            </a:r>
            <a:endParaRPr lang="en-US" sz="1500" dirty="0"/>
          </a:p>
        </p:txBody>
      </p:sp>
      <p:sp>
        <p:nvSpPr>
          <p:cNvPr id="4" name="Object3"/>
          <p:cNvSpPr/>
          <p:nvPr/>
        </p:nvSpPr>
        <p:spPr>
          <a:xfrm>
            <a:off x="1996772" y="1073752"/>
            <a:ext cx="5588467" cy="3145536"/>
          </a:xfrm>
          <a:prstGeom prst="rect">
            <a:avLst/>
          </a:prstGeom>
          <a:noFill/>
          <a:ln/>
        </p:spPr>
        <p:txBody>
          <a:bodyPr wrap="square" rtlCol="0" anchor="ctr"/>
          <a:lstStyle/>
          <a:p>
            <a:pPr>
              <a:lnSpc>
                <a:spcPct val="112500"/>
              </a:lnSpc>
            </a:pP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向量数据库</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数据的加载</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数据的切片（Chunk）</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嵌入（Embeddings）模型</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检索器</a:t>
            </a:r>
            <a:endParaRPr lang="en-US" sz="1500" dirty="0"/>
          </a:p>
          <a:p>
            <a:pPr>
              <a:lnSpc>
                <a:spcPct val="112500"/>
              </a:lnSpc>
            </a:pPr>
            <a:r>
              <a:rPr lang="en-US" sz="1700" dirty="0">
                <a:solidFill>
                  <a:srgbClr val="000000"/>
                </a:solidFill>
                <a:latin typeface="Microsoft Yahei" pitchFamily="34" charset="0"/>
                <a:ea typeface="Microsoft Yahei" pitchFamily="34" charset="-122"/>
                <a:cs typeface="Microsoft Yahei" pitchFamily="34" charset="-120"/>
              </a:rPr>
              <a:t>Rerankers（重排序）</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Agent+RAG</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Graph +RAG</a:t>
            </a:r>
            <a:endParaRPr lang="en-US" sz="1500" dirty="0"/>
          </a:p>
          <a:p>
            <a:pPr>
              <a:lnSpc>
                <a:spcPct val="112500"/>
              </a:lnSpc>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92/1/e06acedcd6c44249943ef2119ff824c0.png">    </p:cNvPr>
          <p:cNvPicPr>
            <a:picLocks noChangeAspect="1"/>
          </p:cNvPicPr>
          <p:nvPr/>
        </p:nvPicPr>
        <p:blipFill>
          <a:blip r:embed="rId1"/>
          <a:stretch>
            <a:fillRect/>
          </a:stretch>
        </p:blipFill>
        <p:spPr>
          <a:xfrm>
            <a:off x="6487552" y="3426310"/>
            <a:ext cx="2656448" cy="1742336"/>
          </a:xfrm>
          <a:prstGeom prst="rect">
            <a:avLst/>
          </a:prstGeom>
        </p:spPr>
      </p:pic>
      <p:pic>
        <p:nvPicPr>
          <p:cNvPr id="3" name="Object 2" descr="https://fynotefile.oss-cn-zhangjiakou.aliyuncs.com/fynote/fyfile/3/1/09a55c53ed2b4a4d9ff43893669e9072.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060" y="127621"/>
            <a:ext cx="1346548" cy="351232"/>
          </a:xfrm>
          <a:prstGeom prst="rect">
            <a:avLst/>
          </a:prstGeom>
        </p:spPr>
      </p:pic>
      <p:sp>
        <p:nvSpPr>
          <p:cNvPr id="4" name="Object3"/>
          <p:cNvSpPr/>
          <p:nvPr/>
        </p:nvSpPr>
        <p:spPr>
          <a:xfrm>
            <a:off x="2673592" y="238290"/>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向量数据库</a:t>
            </a:r>
            <a:endParaRPr lang="en-US" sz="1500" dirty="0"/>
          </a:p>
        </p:txBody>
      </p:sp>
      <p:pic>
        <p:nvPicPr>
          <p:cNvPr id="5" name="Object 4" descr="https://fynotefile.oss-cn-zhangjiakou.aliyuncs.com/fynote/fyfile/482/517234/e0c9185179da4d00a53819b45218d203.png">    </p:cNvPr>
          <p:cNvPicPr>
            <a:picLocks noChangeAspect="1"/>
          </p:cNvPicPr>
          <p:nvPr/>
        </p:nvPicPr>
        <p:blipFill>
          <a:blip r:embed="rId4"/>
          <a:stretch>
            <a:fillRect/>
          </a:stretch>
        </p:blipFill>
        <p:spPr>
          <a:xfrm>
            <a:off x="1140200" y="834515"/>
            <a:ext cx="6863600" cy="39971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Milvus的安装和使用</a:t>
            </a:r>
            <a:endParaRPr lang="en-US" sz="1500" dirty="0"/>
          </a:p>
        </p:txBody>
      </p:sp>
      <p:sp>
        <p:nvSpPr>
          <p:cNvPr id="4" name="Object3"/>
          <p:cNvSpPr/>
          <p:nvPr/>
        </p:nvSpPr>
        <p:spPr>
          <a:xfrm>
            <a:off x="953889" y="979893"/>
            <a:ext cx="7236223" cy="1874520"/>
          </a:xfrm>
          <a:prstGeom prst="rect">
            <a:avLst/>
          </a:prstGeom>
          <a:noFill/>
          <a:ln/>
        </p:spPr>
        <p:txBody>
          <a:bodyPr wrap="square" rtlCol="0" anchor="ctr"/>
          <a:lstStyle/>
          <a:p>
            <a:pPr>
              <a:lnSpc>
                <a:spcPct val="112500"/>
              </a:lnSpc>
            </a:pPr>
            <a:endParaRPr lang="en-US" sz="1500" dirty="0"/>
          </a:p>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服务器部署Milvus</a:t>
            </a:r>
            <a:endParaRPr lang="en-US" sz="1500" dirty="0"/>
          </a:p>
          <a:p>
            <a:pPr>
              <a:lnSpc>
                <a:spcPct val="112500"/>
              </a:lnSpc>
            </a:pPr>
            <a:r>
              <a:rPr lang="en-US" sz="1500" dirty="0">
                <a:solidFill>
                  <a:srgbClr val="4F4F4F"/>
                </a:solidFill>
                <a:latin typeface="Microsoft Yahei" pitchFamily="34" charset="0"/>
                <a:ea typeface="Microsoft Yahei" pitchFamily="34" charset="-122"/>
                <a:cs typeface="Microsoft Yahei" pitchFamily="34" charset="-120"/>
              </a:rPr>
              <a:t>地化部署Milvus</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513"/>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RAG的高级解决方案</a:t>
            </a:r>
            <a:endParaRPr lang="en-US" sz="1500" dirty="0"/>
          </a:p>
        </p:txBody>
      </p:sp>
      <p:sp>
        <p:nvSpPr>
          <p:cNvPr id="4" name="Object3"/>
          <p:cNvSpPr/>
          <p:nvPr/>
        </p:nvSpPr>
        <p:spPr>
          <a:xfrm>
            <a:off x="1332788" y="907756"/>
            <a:ext cx="6963861" cy="3693890"/>
          </a:xfrm>
          <a:prstGeom prst="rect">
            <a:avLst/>
          </a:prstGeom>
          <a:noFill/>
          <a:ln/>
        </p:spPr>
        <p:txBody>
          <a:bodyPr wrap="square" rtlCol="0" anchor="ctr"/>
          <a:lstStyle/>
          <a:p>
            <a:pPr>
              <a:lnSpc>
                <a:spcPct val="112500"/>
              </a:lnSpc>
            </a:pP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向量数据库：</a:t>
            </a:r>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MIlvus，Chroma，PostgreSQL，Drant等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数据的加载 : </a:t>
            </a:r>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html,markdown，pdf，excel，word等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数据的切片（Chunk）：</a:t>
            </a:r>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标题，段落，分隔符，语义等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嵌入（Embeddings）模型：</a:t>
            </a:r>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 openai，bge-large等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检索器：</a:t>
            </a:r>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ANN， 全文检索，过滤检索，混合检索，分组等</a:t>
            </a:r>
            <a:endParaRPr lang="en-US" sz="1500" dirty="0"/>
          </a:p>
          <a:p>
            <a:pPr>
              <a:lnSpc>
                <a:spcPct val="112500"/>
              </a:lnSpc>
            </a:pPr>
            <a:r>
              <a:rPr lang="en-US" sz="1700" b="1" dirty="0">
                <a:solidFill>
                  <a:srgbClr val="000000"/>
                </a:solidFill>
                <a:latin typeface="Microsoft Yahei" pitchFamily="34" charset="0"/>
                <a:ea typeface="Microsoft Yahei" pitchFamily="34" charset="-122"/>
                <a:cs typeface="Microsoft Yahei" pitchFamily="34" charset="-120"/>
              </a:rPr>
              <a:t>Rerankers（重排序）</a:t>
            </a:r>
            <a:pPr>
              <a:lnSpc>
                <a:spcPct val="112500"/>
              </a:lnSpc>
            </a:pPr>
            <a:r>
              <a:rPr lang="en-US" sz="1700" dirty="0">
                <a:solidFill>
                  <a:srgbClr val="000000"/>
                </a:solidFill>
                <a:latin typeface="Microsoft Yahei" pitchFamily="34" charset="0"/>
                <a:ea typeface="Microsoft Yahei" pitchFamily="34" charset="-122"/>
                <a:cs typeface="Microsoft Yahei" pitchFamily="34" charset="-120"/>
              </a:rPr>
              <a:t>：加权排序，RRFRanker等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Agent+RAG</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Graph +RAG</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多源RAG</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自评测RAG等</a:t>
            </a:r>
            <a:endParaRPr lang="en-US" sz="1500" dirty="0"/>
          </a:p>
          <a:p>
            <a:pPr>
              <a:lnSpc>
                <a:spcPct val="112500"/>
              </a:lnSpc>
            </a:pP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内容加载和切割</a:t>
            </a:r>
            <a:endParaRPr lang="en-US" sz="1500" dirty="0"/>
          </a:p>
        </p:txBody>
      </p:sp>
      <p:sp>
        <p:nvSpPr>
          <p:cNvPr id="4" name="Object3"/>
          <p:cNvSpPr/>
          <p:nvPr/>
        </p:nvSpPr>
        <p:spPr>
          <a:xfrm>
            <a:off x="953889" y="979893"/>
            <a:ext cx="7236223" cy="1920240"/>
          </a:xfrm>
          <a:prstGeom prst="rect">
            <a:avLst/>
          </a:prstGeom>
          <a:noFill/>
          <a:ln/>
        </p:spPr>
        <p:txBody>
          <a:bodyPr wrap="square" rtlCol="0" anchor="ctr"/>
          <a:lstStyle/>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PDF文件加载</a:t>
            </a:r>
            <a:endParaRPr lang="en-US" sz="1500" dirty="0"/>
          </a:p>
          <a:p>
            <a:pPr>
              <a:lnSpc>
                <a:spcPct val="112500"/>
              </a:lnSpc>
            </a:pPr>
            <a:endParaRPr lang="en-US" sz="1500" dirty="0"/>
          </a:p>
          <a:p>
            <a:pPr>
              <a:lnSpc>
                <a:spcPct val="112500"/>
              </a:lnSpc>
            </a:pPr>
            <a:r>
              <a:rPr lang="en-US" sz="1500" dirty="0">
                <a:solidFill>
                  <a:srgbClr val="4F4F4F"/>
                </a:solidFill>
                <a:latin typeface="Microsoft Yahei" pitchFamily="34" charset="0"/>
                <a:ea typeface="Microsoft Yahei" pitchFamily="34" charset="-122"/>
                <a:cs typeface="Microsoft Yahei" pitchFamily="34" charset="-120"/>
              </a:rPr>
              <a:t>Markdown文件加载</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sp>
        <p:nvSpPr>
          <p:cNvPr id="4" name="Object3"/>
          <p:cNvSpPr/>
          <p:nvPr/>
        </p:nvSpPr>
        <p:spPr>
          <a:xfrm>
            <a:off x="953889" y="1177290"/>
            <a:ext cx="7236223" cy="3977640"/>
          </a:xfrm>
          <a:prstGeom prst="rect">
            <a:avLst/>
          </a:prstGeom>
          <a:noFill/>
          <a:ln/>
        </p:spPr>
        <p:txBody>
          <a:bodyPr wrap="square" rtlCol="0" anchor="ctr"/>
          <a:lstStyle/>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在RAG（Retrieval-Augmented Generation）的混合检索中，</a:t>
            </a:r>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​密集嵌入（Dense Embeddings）​和稀疏嵌入（Sparse Embeddings）</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​是两种互补的向量表示方法，分别用于捕捉语义信息和关键词匹配。</a:t>
            </a:r>
            <a:endParaRPr lang="en-US" sz="1500" dirty="0"/>
          </a:p>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混合搜索结合了不同搜索范式的优势，以提高检索的准确性和鲁棒性。它充分利用了密</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集向量搜索和稀疏向量搜索的能力，以及多种密集向量搜索策略的组合，确保对各种查询进行全面而精确的检索。</a:t>
            </a:r>
            <a:endParaRPr lang="en-US" sz="1500" dirty="0"/>
          </a:p>
          <a:p>
            <a:pPr>
              <a:lnSpc>
                <a:spcPct val="112500"/>
              </a:lnSpc>
            </a:pPr>
            <a:endParaRPr lang="en-US" sz="1500" dirty="0"/>
          </a:p>
          <a:p>
            <a:pPr>
              <a:lnSpc>
                <a:spcPct val="112500"/>
              </a:lnSpc>
            </a:pPr>
            <a:r>
              <a:rPr lang="en-US" sz="1500" dirty="0">
                <a:solidFill>
                  <a:srgbClr val="191919"/>
                </a:solidFill>
                <a:highlight>
                  <a:srgbClr val="000000"/>
                </a:highlight>
                <a:latin typeface="Microsoft Yahei" pitchFamily="34" charset="0"/>
                <a:ea typeface="Microsoft Yahei" pitchFamily="34" charset="-122"/>
                <a:cs typeface="Microsoft Yahei" pitchFamily="34" charset="-120"/>
              </a:rPr>
              <a:t>在这种情况下，使用语义向量相似性和精确关键词匹配两种方法检索候选内容。来自这些方法的结果会被合并、重新排序，并传递给 LLM 以生成最终答案。这种方法兼顾了精确性和语义理解，对各种查询场景都非常有效。</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pic>
        <p:nvPicPr>
          <p:cNvPr id="4" name="Object 3" descr="https://fynotefile.oss-cn-zhangjiakou.aliyuncs.com/fynote/fyfile/482/589217/56f73879be0a4d0e85b37a198aee8592.png">    </p:cNvPr>
          <p:cNvPicPr>
            <a:picLocks noChangeAspect="1"/>
          </p:cNvPicPr>
          <p:nvPr/>
        </p:nvPicPr>
        <p:blipFill>
          <a:blip r:embed="rId3"/>
          <a:stretch>
            <a:fillRect/>
          </a:stretch>
        </p:blipFill>
        <p:spPr>
          <a:xfrm>
            <a:off x="858334" y="979893"/>
            <a:ext cx="7885620" cy="41636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sp>
        <p:nvSpPr>
          <p:cNvPr id="4" name="Object3"/>
          <p:cNvSpPr/>
          <p:nvPr/>
        </p:nvSpPr>
        <p:spPr>
          <a:xfrm>
            <a:off x="953889" y="1177290"/>
            <a:ext cx="7485216" cy="333756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​密集嵌入（Dense Embeddings）： bge-large</a:t>
            </a:r>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​稀疏嵌入（Sparse Embeddings）：BM25</a:t>
            </a:r>
            <a:endParaRPr lang="en-US" sz="1500" dirty="0"/>
          </a:p>
          <a:p>
            <a:pPr>
              <a:lnSpc>
                <a:spcPct val="112500"/>
              </a:lnSpc>
            </a:pPr>
            <a:endParaRPr lang="en-US" sz="1500" dirty="0"/>
          </a:p>
          <a:p>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BGE-Large</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​（BAAI General Embedding）是由北京智源人工智能研究院（BAAI）推出的</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开源文本嵌入模型</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，属于</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密集嵌入（Dense Embedding）​</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的代表性模型，专为语义检索、问答、聚类等任务优化。</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主要针对</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中文</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优化，但也支持多语言</a:t>
            </a:r>
            <a:endParaRPr lang="en-US" sz="1500" dirty="0"/>
          </a:p>
          <a:p>
            <a:pPr>
              <a:lnSpc>
                <a:spcPct val="112500"/>
              </a:lnSpc>
            </a:pPr>
            <a:endParaRPr lang="en-US" sz="1500" dirty="0"/>
          </a:p>
          <a:p>
            <a:pPr>
              <a:lnSpc>
                <a:spcPct val="112500"/>
              </a:lnSpc>
            </a:pPr>
            <a:r>
              <a:rPr lang="en-US" sz="1500" b="1" dirty="0">
                <a:solidFill>
                  <a:srgbClr val="000000"/>
                </a:solidFill>
                <a:highlight>
                  <a:srgbClr val="000000"/>
                </a:highlight>
                <a:latin typeface="Microsoft Yahei" pitchFamily="34" charset="0"/>
                <a:ea typeface="Microsoft Yahei" pitchFamily="34" charset="-122"/>
                <a:cs typeface="Microsoft Yahei" pitchFamily="34" charset="-120"/>
              </a:rPr>
              <a:t>BM25（Best Matching 25）</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是一种</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基于统计的稀疏检索算法</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，是信息检索（Information Retrieval, IR）领域最经典的排序函数之一。它是对传统</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TF-IDF（词频-逆文档频率）​</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的改进，能够更合理地衡量文档与查询的相关性，广泛应用于搜索引擎（如Elasticsearch、Lucene）和问答系统。</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向量存储的索引</a:t>
            </a:r>
            <a:endParaRPr lang="en-US" sz="1500" dirty="0"/>
          </a:p>
        </p:txBody>
      </p:sp>
      <p:sp>
        <p:nvSpPr>
          <p:cNvPr id="4" name="Object3"/>
          <p:cNvSpPr/>
          <p:nvPr/>
        </p:nvSpPr>
        <p:spPr>
          <a:xfrm>
            <a:off x="953889" y="904583"/>
            <a:ext cx="7485216" cy="128016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pPr>
              <a:lnSpc>
                <a:spcPct val="112500"/>
              </a:lnSpc>
            </a:pPr>
            <a:r>
              <a:rPr lang="en-US" sz="1500" dirty="0">
                <a:solidFill>
                  <a:srgbClr val="191919"/>
                </a:solidFill>
                <a:highlight>
                  <a:srgbClr val="000000"/>
                </a:highlight>
                <a:latin typeface="Microsoft Yahei" pitchFamily="34" charset="0"/>
                <a:ea typeface="Microsoft Yahei" pitchFamily="34" charset="-122"/>
                <a:cs typeface="Microsoft Yahei" pitchFamily="34" charset="-120"/>
              </a:rPr>
              <a:t>索引是建立在数据之上的附加结构。其内部结构取决于所使用的近似近邻搜索算法。索引可以加快搜索速度，但在搜索过程中会产生额外的预处理时间、空间和 RAM。此外，使用索引通常会降低召回率（虽然影响可以忽略不计，但仍然很重要）。因此，本文将解释如何最大限度地减少使用索引的成本，同时最大限度地提高索引的效益。</a:t>
            </a:r>
            <a:endParaRPr lang="en-US" sz="1500" dirty="0"/>
          </a:p>
        </p:txBody>
      </p:sp>
      <p:pic>
        <p:nvPicPr>
          <p:cNvPr id="5" name="Object 4" descr="https://fynotefile.oss-cn-zhangjiakou.aliyuncs.com/fynote/fyfile/482/589217/a512d0d4f93140a3b99eb4f434fa6ff6.png">    </p:cNvPr>
          <p:cNvPicPr>
            <a:picLocks noChangeAspect="1"/>
          </p:cNvPicPr>
          <p:nvPr/>
        </p:nvPicPr>
        <p:blipFill>
          <a:blip r:embed="rId3"/>
          <a:stretch>
            <a:fillRect/>
          </a:stretch>
        </p:blipFill>
        <p:spPr>
          <a:xfrm>
            <a:off x="1397571" y="2125611"/>
            <a:ext cx="6557934" cy="30178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406908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相似性检索：</a:t>
            </a:r>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检索器接受字符串查询作为输入，并返回一个 文档 列表作为输出。</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过滤检索：</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我们可以使用Milvus 标量过滤规则来根据元数据过滤文档。</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全文检索：</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全文搜索是一种通过匹配文本中特定关键词或短语来检索文档的传统方法。它根据词频等因素计算出的相关性分数对结果进行排序。语义搜索更善于理解含义和上下文，而全文搜索则擅长精确的关键词匹配，因此是语义搜索的有益补充。</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混合检索：</a:t>
            </a:r>
            <a:endParaRPr lang="en-US" sz="1500" dirty="0"/>
          </a:p>
          <a:p>
            <a:pPr>
              <a:lnSpc>
                <a:spcPct val="112500"/>
              </a:lnSpc>
            </a:pP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重排Rerankers:</a:t>
            </a:r>
            <a:endParaRPr lang="en-US" sz="1500" dirty="0"/>
          </a:p>
          <a:p>
            <a:pPr>
              <a:lnSpc>
                <a:spcPct val="112500"/>
              </a:lnSpc>
            </a:pPr>
            <a:r>
              <a:rPr lang="en-US" sz="1500" dirty="0">
                <a:solidFill>
                  <a:srgbClr val="191919"/>
                </a:solidFill>
                <a:highlight>
                  <a:srgbClr val="000000"/>
                </a:highlight>
                <a:latin typeface="Microsoft Yahei" pitchFamily="34" charset="0"/>
                <a:ea typeface="Microsoft Yahei" pitchFamily="34" charset="-122"/>
                <a:cs typeface="Microsoft Yahei" pitchFamily="34" charset="-120"/>
              </a:rPr>
              <a:t>将用于关键词匹配的 BM25 和用于语义检索的向量搜索结合在一起。来自这两种方法的结果经过合并、Rerankers 和传递给 LLM 来生成最终答案。</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374904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在</a:t>
            </a:r>
            <a:pPr>
              <a:lnSpc>
                <a:spcPct val="112500"/>
              </a:lnSpc>
            </a:pPr>
            <a:r>
              <a:rPr lang="en-US" sz="1500" dirty="0">
                <a:solidFill>
                  <a:srgbClr val="333333"/>
                </a:solidFill>
                <a:latin typeface="var(--monospace)" pitchFamily="34" charset="0"/>
                <a:ea typeface="var(--monospace)" pitchFamily="34" charset="-122"/>
                <a:cs typeface="var(--monospace)" pitchFamily="34" charset="-120"/>
              </a:rPr>
              <a:t>langchain-milvus</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库中，</a:t>
            </a:r>
            <a:pPr>
              <a:lnSpc>
                <a:spcPct val="112500"/>
              </a:lnSpc>
            </a:pPr>
            <a:r>
              <a:rPr lang="en-US" sz="1500" dirty="0">
                <a:solidFill>
                  <a:srgbClr val="333333"/>
                </a:solidFill>
                <a:latin typeface="var(--monospace)" pitchFamily="34" charset="0"/>
                <a:ea typeface="var(--monospace)" pitchFamily="34" charset="-122"/>
                <a:cs typeface="var(--monospace)" pitchFamily="34" charset="-120"/>
              </a:rPr>
              <a:t>as_retriever()</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函数用于将向量存储（</a:t>
            </a:r>
            <a:pPr>
              <a:lnSpc>
                <a:spcPct val="112500"/>
              </a:lnSpc>
            </a:pPr>
            <a:r>
              <a:rPr lang="en-US" sz="1500" dirty="0">
                <a:solidFill>
                  <a:srgbClr val="333333"/>
                </a:solidFill>
                <a:latin typeface="var(--monospace)" pitchFamily="34" charset="0"/>
                <a:ea typeface="var(--monospace)" pitchFamily="34" charset="-122"/>
                <a:cs typeface="var(--monospace)" pitchFamily="34" charset="-120"/>
              </a:rPr>
              <a:t>vector_store</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）转换为检索器（</a:t>
            </a:r>
            <a:pPr>
              <a:lnSpc>
                <a:spcPct val="112500"/>
              </a:lnSpc>
            </a:pPr>
            <a:r>
              <a:rPr lang="en-US" sz="1500" dirty="0">
                <a:solidFill>
                  <a:srgbClr val="333333"/>
                </a:solidFill>
                <a:latin typeface="var(--monospace)" pitchFamily="34" charset="0"/>
                <a:ea typeface="var(--monospace)" pitchFamily="34" charset="-122"/>
                <a:cs typeface="var(--monospace)" pitchFamily="34" charset="-120"/>
              </a:rPr>
              <a:t>retriever</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），以便进行相似性搜索或混合搜索。以下是该函数的关键参数及其作用：</a:t>
            </a:r>
            <a:pPr>
              <a:lnSpc>
                <a:spcPct val="112500"/>
              </a:lnSpc>
            </a:pPr>
            <a:r>
              <a:rPr lang="en-US" sz="100" b="1" dirty="0">
                <a:solidFill>
                  <a:srgbClr val="333333"/>
                </a:solidFill>
                <a:latin typeface="Microsoft Yahei" pitchFamily="34" charset="0"/>
                <a:ea typeface="Microsoft Yahei" pitchFamily="34" charset="-122"/>
                <a:cs typeface="Microsoft Yahei" pitchFamily="34" charset="-120"/>
              </a:rPr>
              <a:t> </a:t>
            </a:r>
            <a:pPr>
              <a:lnSpc>
                <a:spcPct val="112500"/>
              </a:lnSpc>
            </a:pPr>
            <a:r>
              <a:rPr lang="en-US" sz="1500" b="1" dirty="0">
                <a:solidFill>
                  <a:srgbClr val="333333"/>
                </a:solidFill>
                <a:latin typeface="var(--monospace)" pitchFamily="34" charset="0"/>
                <a:ea typeface="var(--monospace)" pitchFamily="34" charset="-122"/>
                <a:cs typeface="var(--monospace)" pitchFamily="34" charset="-120"/>
              </a:rPr>
              <a:t>search_type</a:t>
            </a:r>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参数</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功能：指定检索策略，支持以下两种模式：</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"similarity"</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（默认）：基于向量相似度的简单搜索。</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"mmr"：（Maximal Marginal Relevance）：在相似度的基础上增加多样性，避免返回重复内容</a:t>
            </a:r>
            <a:pPr>
              <a:lnSpc>
                <a:spcPct val="112500"/>
              </a:lnSpc>
            </a:pPr>
            <a:r>
              <a:rPr lang="en-US" sz="1500" b="1" dirty="0">
                <a:solidFill>
                  <a:srgbClr val="333333"/>
                </a:solidFill>
                <a:latin typeface="var(--monospace)" pitchFamily="34" charset="0"/>
                <a:ea typeface="var(--monospace)" pitchFamily="34" charset="-122"/>
                <a:cs typeface="var(--monospace)" pitchFamily="34" charset="-120"/>
              </a:rPr>
              <a:t>search_kwargs</a:t>
            </a:r>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参数</a:t>
            </a:r>
            <a:endParaRPr lang="en-US" sz="1500" dirty="0"/>
          </a:p>
          <a:p>
            <a:pPr>
              <a:lnSpc>
                <a:spcPct val="112500"/>
              </a:lnSpc>
            </a:pPr>
            <a:r>
              <a:rPr lang="en-US" sz="1200" dirty="0">
                <a:solidFill>
                  <a:srgbClr val="333333"/>
                </a:solidFill>
                <a:latin typeface="Open Sans, Clear Sans, Helvetica Neue, Helvetica, Arial, Segoe UI Emoji, sans-serif" pitchFamily="34" charset="0"/>
                <a:ea typeface="Open Sans, Clear Sans, Helvetica Neue, Helvetica, Arial, Segoe UI Emoji, sans-serif" pitchFamily="34" charset="-122"/>
                <a:cs typeface="Open Sans, Clear Sans, Helvetica Neue, Helvetica, Arial, Segoe UI Emoji, sans-serif" pitchFamily="34" charset="-120"/>
              </a:rPr>
              <a:t>功能：传递搜索时的额外配置，常见子参数包括：</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"k"</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：返回的最近邻数量（如</a:t>
            </a:r>
            <a:pPr>
              <a:lnSpc>
                <a:spcPct val="112500"/>
              </a:lnSpc>
            </a:pPr>
            <a:r>
              <a:rPr lang="en-US" sz="1500" dirty="0">
                <a:solidFill>
                  <a:srgbClr val="333333"/>
                </a:solidFill>
                <a:latin typeface="var(--monospace)" pitchFamily="34" charset="0"/>
                <a:ea typeface="var(--monospace)" pitchFamily="34" charset="-122"/>
                <a:cs typeface="var(--monospace)" pitchFamily="34" charset="-120"/>
              </a:rPr>
              <a:t>{"k": 1}</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表示只返回最相关的1条结果）。</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"score_threshold"</a:t>
            </a:r>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：相似度分数阈值，仅返回分数高于此值的结果。</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"expr"：Milvus的原生过滤表达式（如按元数据过滤）</a:t>
            </a:r>
            <a:endParaRPr lang="en-US" sz="1500" dirty="0"/>
          </a:p>
          <a:p>
            <a:pPr>
              <a:lnSpc>
                <a:spcPct val="112500"/>
              </a:lnSpc>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731520"/>
          </a:xfrm>
          <a:prstGeom prst="rect">
            <a:avLst/>
          </a:prstGeom>
          <a:noFill/>
          <a:ln/>
        </p:spPr>
        <p:txBody>
          <a:bodyPr wrap="square" rtlCol="0" anchor="ctr"/>
          <a:lstStyle/>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filter</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 参数用于在向量检索过程中对</a:t>
            </a:r>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标量字段（非向量字段）​</a:t>
            </a:r>
            <a:pPr>
              <a:lnSpc>
                <a:spcPct val="112500"/>
              </a:lnSpc>
            </a:pPr>
            <a:r>
              <a:rPr lang="en-US" sz="1500" dirty="0">
                <a:solidFill>
                  <a:srgbClr val="000000"/>
                </a:solidFill>
                <a:highlight>
                  <a:srgbClr val="000000"/>
                </a:highlight>
                <a:latin typeface="Microsoft Yahei" pitchFamily="34" charset="0"/>
                <a:ea typeface="Microsoft Yahei" pitchFamily="34" charset="-122"/>
                <a:cs typeface="Microsoft Yahei" pitchFamily="34" charset="-120"/>
              </a:rPr>
              <a:t>进行条件过滤，从而缩小搜索范围并提升检索效率。</a:t>
            </a:r>
            <a:endParaRPr lang="en-US" sz="1500" dirty="0"/>
          </a:p>
        </p:txBody>
      </p:sp>
      <p:pic>
        <p:nvPicPr>
          <p:cNvPr id="5" name="Object 4" descr="https://fynotefile.oss-cn-zhangjiakou.aliyuncs.com/fynote/fyfile/482/589217/bb0e10b417144dfa905dde41d613f3e1.png">    </p:cNvPr>
          <p:cNvPicPr>
            <a:picLocks noChangeAspect="1"/>
          </p:cNvPicPr>
          <p:nvPr/>
        </p:nvPicPr>
        <p:blipFill>
          <a:blip r:embed="rId3"/>
          <a:stretch>
            <a:fillRect/>
          </a:stretch>
        </p:blipFill>
        <p:spPr>
          <a:xfrm>
            <a:off x="1411591" y="1698688"/>
            <a:ext cx="6842520" cy="3181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RAG+Agent</a:t>
            </a:r>
            <a:endParaRPr lang="en-US" sz="1500" dirty="0"/>
          </a:p>
        </p:txBody>
      </p:sp>
      <p:sp>
        <p:nvSpPr>
          <p:cNvPr id="4" name="Object3"/>
          <p:cNvSpPr/>
          <p:nvPr/>
        </p:nvSpPr>
        <p:spPr>
          <a:xfrm>
            <a:off x="918318" y="1058722"/>
            <a:ext cx="7485216" cy="731520"/>
          </a:xfrm>
          <a:prstGeom prst="rect">
            <a:avLst/>
          </a:prstGeom>
          <a:noFill/>
          <a:ln/>
        </p:spPr>
        <p:txBody>
          <a:bodyPr wrap="square" rtlCol="0" anchor="ctr"/>
          <a:lstStyle/>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如何：使用遗留的 LangChain 代理 (AgentExecutor)</a:t>
            </a:r>
            <a:endParaRPr lang="en-US" sz="1500" dirty="0"/>
          </a:p>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如何：从遗留的 LangChain 代理迁移到 LangGraph</a:t>
            </a:r>
            <a:endParaRPr lang="en-US" sz="1500" dirty="0"/>
          </a:p>
        </p:txBody>
      </p:sp>
      <p:pic>
        <p:nvPicPr>
          <p:cNvPr id="5" name="Object 4" descr="https://fynotefile.oss-cn-zhangjiakou.aliyuncs.com/fynote/fyfile/482/589217/cb178280193143dab4864d5bfa7a7113.png">    </p:cNvPr>
          <p:cNvPicPr>
            <a:picLocks noChangeAspect="1"/>
          </p:cNvPicPr>
          <p:nvPr/>
        </p:nvPicPr>
        <p:blipFill>
          <a:blip r:embed="rId3"/>
          <a:stretch>
            <a:fillRect/>
          </a:stretch>
        </p:blipFill>
        <p:spPr>
          <a:xfrm>
            <a:off x="858334" y="1790242"/>
            <a:ext cx="7673751" cy="30575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127621"/>
            <a:ext cx="4126656" cy="841248"/>
          </a:xfrm>
          <a:prstGeom prst="rect">
            <a:avLst/>
          </a:prstGeom>
          <a:noFill/>
          <a:ln/>
        </p:spPr>
        <p:txBody>
          <a:bodyPr wrap="square" rtlCol="0" anchor="ctr"/>
          <a:lstStyle/>
          <a:p>
            <a:pPr algn="ctr"/>
            <a:r>
              <a:rPr lang="en-US" sz="3600" b="1" dirty="0">
                <a:solidFill>
                  <a:srgbClr val="333333"/>
                </a:solidFill>
                <a:latin typeface="Microsoft Yahei" pitchFamily="34" charset="0"/>
                <a:ea typeface="Microsoft Yahei" pitchFamily="34" charset="-122"/>
                <a:cs typeface="Microsoft Yahei" pitchFamily="34" charset="-120"/>
              </a:rPr>
              <a:t>RAG+Agent</a:t>
            </a:r>
            <a:endParaRPr lang="en-US" sz="1500" dirty="0"/>
          </a:p>
        </p:txBody>
      </p:sp>
      <p:sp>
        <p:nvSpPr>
          <p:cNvPr id="4" name="Object3"/>
          <p:cNvSpPr/>
          <p:nvPr/>
        </p:nvSpPr>
        <p:spPr>
          <a:xfrm>
            <a:off x="918318" y="1058722"/>
            <a:ext cx="7485216" cy="3125248"/>
          </a:xfrm>
          <a:prstGeom prst="rect">
            <a:avLst/>
          </a:prstGeom>
          <a:noFill/>
          <a:ln/>
        </p:spPr>
        <p:txBody>
          <a:bodyPr wrap="square" rtlCol="0" anchor="ctr"/>
          <a:lstStyle/>
          <a:p>
            <a:pPr>
              <a:lnSpc>
                <a:spcPct val="135000"/>
              </a:lnSpc>
            </a:pPr>
            <a:r>
              <a:rPr lang="en-US" sz="2700" b="1" dirty="0">
                <a:solidFill>
                  <a:srgbClr val="333333"/>
                </a:solidFill>
                <a:latin typeface="Microsoft Yahei" pitchFamily="34" charset="0"/>
                <a:ea typeface="Microsoft Yahei" pitchFamily="34" charset="-122"/>
                <a:cs typeface="Microsoft Yahei" pitchFamily="34" charset="-120"/>
              </a:rPr>
              <a:t>AgentExecutor (遗留版) 构建Agent</a:t>
            </a:r>
            <a:endParaRPr lang="en-US" sz="1500" dirty="0"/>
          </a:p>
          <a:p>
            <a:pPr>
              <a:lnSpc>
                <a:spcPct val="135000"/>
              </a:lnSpc>
            </a:pP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创建提示词模板</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把RAG检索器，封装到tool中</a:t>
            </a:r>
            <a:endParaRPr lang="en-US" sz="1500" dirty="0"/>
          </a:p>
          <a:p>
            <a:pPr>
              <a:lnSpc>
                <a:spcPct val="135000"/>
              </a:lnSpc>
            </a:pPr>
            <a:r>
              <a:rPr lang="en-US" sz="1500" dirty="0">
                <a:solidFill>
                  <a:srgbClr val="1C1E21"/>
                </a:solidFill>
                <a:highlight>
                  <a:srgbClr val="000000"/>
                </a:highlight>
                <a:latin typeface="Microsoft Yahei" pitchFamily="34" charset="0"/>
                <a:ea typeface="Microsoft Yahei" pitchFamily="34" charset="-122"/>
                <a:cs typeface="Microsoft Yahei" pitchFamily="34" charset="-120"/>
              </a:rPr>
              <a:t>create_tool_calling_agent: 创建Agent</a:t>
            </a:r>
            <a:endParaRPr lang="en-US" sz="1500" dirty="0"/>
          </a:p>
          <a:p>
            <a:pPr>
              <a:lnSpc>
                <a:spcPct val="135000"/>
              </a:lnSpc>
            </a:pPr>
            <a:r>
              <a:rPr lang="en-US" sz="1500" dirty="0">
                <a:solidFill>
                  <a:srgbClr val="1C1E21"/>
                </a:solidFill>
                <a:latin typeface="Microsoft Yahei" pitchFamily="34" charset="0"/>
                <a:ea typeface="Microsoft Yahei" pitchFamily="34" charset="-122"/>
                <a:cs typeface="Microsoft Yahei" pitchFamily="34" charset="-120"/>
              </a:rPr>
              <a:t>AgentExecutor：Agent执行器</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添加记忆能力</a:t>
            </a:r>
            <a:endParaRPr lang="en-US" sz="1500" dirty="0"/>
          </a:p>
          <a:p>
            <a:pPr>
              <a:lnSpc>
                <a:spcPct val="135000"/>
              </a:lnSpc>
            </a:pP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127621"/>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Corrective RAG</a:t>
            </a:r>
            <a:endParaRPr lang="en-US" sz="1500" dirty="0"/>
          </a:p>
        </p:txBody>
      </p:sp>
      <p:sp>
        <p:nvSpPr>
          <p:cNvPr id="4" name="Object3"/>
          <p:cNvSpPr/>
          <p:nvPr/>
        </p:nvSpPr>
        <p:spPr>
          <a:xfrm>
            <a:off x="918318" y="1058722"/>
            <a:ext cx="7485216" cy="1170432"/>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纠正性RAG（Corrective RAG，简称CRAG）​ 是检索增强生成（RAG）系统的一种改进框架，通过动态评估与纠正机制提升传统RAG的可靠性。其核心思想是：​先验证检索结果的可靠性，再决定是否使用或重新检索。</a:t>
            </a:r>
            <a:endParaRPr lang="en-US" sz="1500" dirty="0"/>
          </a:p>
        </p:txBody>
      </p:sp>
      <p:pic>
        <p:nvPicPr>
          <p:cNvPr id="5" name="Object 4" descr="https://fynotefile.oss-cn-zhangjiakou.aliyuncs.com/fynote/fyfile/482/589217/5d4866fcc0e54bc8b4d4ed1215830952.png">    </p:cNvPr>
          <p:cNvPicPr>
            <a:picLocks noChangeAspect="1"/>
          </p:cNvPicPr>
          <p:nvPr/>
        </p:nvPicPr>
        <p:blipFill>
          <a:blip r:embed="rId3"/>
          <a:stretch>
            <a:fillRect/>
          </a:stretch>
        </p:blipFill>
        <p:spPr>
          <a:xfrm>
            <a:off x="443484" y="2134280"/>
            <a:ext cx="8257032" cy="2606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Corrective RAG</a:t>
            </a:r>
            <a:endParaRPr lang="en-US" sz="1500" dirty="0"/>
          </a:p>
        </p:txBody>
      </p:sp>
      <p:sp>
        <p:nvSpPr>
          <p:cNvPr id="4" name="Object3"/>
          <p:cNvSpPr/>
          <p:nvPr/>
        </p:nvSpPr>
        <p:spPr>
          <a:xfrm>
            <a:off x="918318" y="1058722"/>
            <a:ext cx="7485216" cy="512064"/>
          </a:xfrm>
          <a:prstGeom prst="rect">
            <a:avLst/>
          </a:prstGeom>
          <a:noFill/>
          <a:ln/>
        </p:spPr>
        <p:txBody>
          <a:bodyPr wrap="square" rtlCol="0" anchor="ctr"/>
          <a:lstStyle/>
          <a:p>
            <a:pPr>
              <a:lnSpc>
                <a:spcPct val="135000"/>
              </a:lnSpc>
            </a:pPr>
            <a:endParaRPr lang="en-US" sz="1500" dirty="0"/>
          </a:p>
        </p:txBody>
      </p:sp>
      <p:pic>
        <p:nvPicPr>
          <p:cNvPr id="5" name="Object 4" descr="https://fynotefile.oss-cn-zhangjiakou.aliyuncs.com/fynote/fyfile/482/589217/8b675ec1cfd142ae8a3d88f20782717b.png">    </p:cNvPr>
          <p:cNvPicPr>
            <a:picLocks noChangeAspect="1"/>
          </p:cNvPicPr>
          <p:nvPr/>
        </p:nvPicPr>
        <p:blipFill>
          <a:blip r:embed="rId3"/>
          <a:stretch>
            <a:fillRect/>
          </a:stretch>
        </p:blipFill>
        <p:spPr>
          <a:xfrm>
            <a:off x="2947173" y="1433287"/>
            <a:ext cx="6125686" cy="2138247"/>
          </a:xfrm>
          <a:prstGeom prst="rect">
            <a:avLst/>
          </a:prstGeom>
        </p:spPr>
      </p:pic>
      <p:sp>
        <p:nvSpPr>
          <p:cNvPr id="6" name="Object5"/>
          <p:cNvSpPr/>
          <p:nvPr/>
        </p:nvSpPr>
        <p:spPr>
          <a:xfrm>
            <a:off x="185060" y="1255748"/>
            <a:ext cx="3165246" cy="2377440"/>
          </a:xfrm>
          <a:prstGeom prst="rect">
            <a:avLst/>
          </a:prstGeom>
          <a:noFill/>
          <a:ln/>
        </p:spPr>
        <p:txBody>
          <a:bodyPr wrap="square" rtlCol="0" anchor="ctr"/>
          <a:lstStyle/>
          <a:p>
            <a:r>
              <a:rPr lang="en-US" sz="1100" b="1" dirty="0">
                <a:solidFill>
                  <a:srgbClr val="000000"/>
                </a:solidFill>
                <a:latin typeface="PingFang SC, -apple-system, BlinkMacSystemFont, Segoe UI, Roboto, Ubuntu, Helvetica Neue, Helvetica, Arial, Hiragino Sans GB, Microsoft YaHei UI, Microsoft YaHei, Source Han Sans CN, sans-serif" pitchFamily="34" charset="0"/>
                <a:ea typeface="PingFang SC, -apple-system, BlinkMacSystemFont, Segoe UI, Roboto, Ubuntu, Helvetica Neue, Helvetica, Arial, Hiragino Sans GB, Microsoft YaHei UI, Microsoft YaHei, Source Han Sans CN, sans-serif" pitchFamily="34" charset="-122"/>
                <a:cs typeface="PingFang SC, -apple-system, BlinkMacSystemFont, Segoe UI, Roboto, Ubuntu, Helvetica Neue, Helvetica, Arial, Hiragino Sans GB, Microsoft YaHei UI, Microsoft YaHei, Source Han Sans CN, sans-serif" pitchFamily="34" charset="-120"/>
              </a:rPr>
              <a:t>迭代式检索生成</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A[用户问题] --&gt; B{智能体决策}</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B --&gt;|需检索| C[检索+验证相关性]</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B --&gt;|直接生成| D[生成答案]</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C --&gt; E{结果是否可靠?}</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E --&gt;|否| F[重写查询]</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E --&gt;|是| 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342676" y="127621"/>
            <a:ext cx="4885494"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Adaptive RAG（自适应RAG）</a:t>
            </a:r>
            <a:endParaRPr lang="en-US" sz="1500" dirty="0"/>
          </a:p>
        </p:txBody>
      </p:sp>
      <p:sp>
        <p:nvSpPr>
          <p:cNvPr id="4" name="Object3"/>
          <p:cNvSpPr/>
          <p:nvPr/>
        </p:nvSpPr>
        <p:spPr>
          <a:xfrm>
            <a:off x="918318" y="1058722"/>
            <a:ext cx="7485216" cy="2157984"/>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Adaptive RAG 是一种动态调整检索和生成策略的 RAG 增强范式，旨在根据 **输入查询的复杂性、上下文需求和数据分布** ，智能优化检索范围、生成方式和资源分配。其核心思想是：</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动态适应性 ：不再采用固定的检索-生成流程，而是根据任务需求调整策略。</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资源效率 ：在简单查询时减少计算开销，在复杂查询时增强检索和推理能力。</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上下文感知 ：结合用户历史交互、领域知识等优化检索和生成。</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Object 1" descr="https://fynotefile.oss-cn-zhangjiakou.aliyuncs.com/fynote/fyfile/3/1/09a55c53ed2b4a4d9ff43893669e9072.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5060" y="127621"/>
            <a:ext cx="1346548" cy="351232"/>
          </a:xfrm>
          <a:prstGeom prst="rect">
            <a:avLst/>
          </a:prstGeom>
        </p:spPr>
      </p:pic>
      <p:sp>
        <p:nvSpPr>
          <p:cNvPr id="3" name="Object2"/>
          <p:cNvSpPr/>
          <p:nvPr/>
        </p:nvSpPr>
        <p:spPr>
          <a:xfrm>
            <a:off x="2342676" y="127621"/>
            <a:ext cx="4885494"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Adaptive RAG（自适应RAG）</a:t>
            </a:r>
            <a:endParaRPr lang="en-US" sz="1500" dirty="0"/>
          </a:p>
        </p:txBody>
      </p:sp>
      <p:sp>
        <p:nvSpPr>
          <p:cNvPr id="4" name="Object3"/>
          <p:cNvSpPr/>
          <p:nvPr/>
        </p:nvSpPr>
        <p:spPr>
          <a:xfrm>
            <a:off x="918318" y="1058722"/>
            <a:ext cx="7485216" cy="2157984"/>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Adaptive RAG 是一种动态调整检索和生成策略的 RAG 增强范式，旨在根据 **输入查询的复杂性、上下文需求和数据分布** ，智能优化检索范围、生成方式和资源分配。其核心思想是：</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动态适应性 ：不再采用固定的检索-生成流程，而是根据任务需求调整策略。</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资源效率 ：在简单查询时减少计算开销，在复杂查询时增强检索和推理能力。</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上下文感知 ：结合用户历史交互、领域知识等优化检索和生成。</a:t>
            </a:r>
            <a:endParaRPr lang="en-US" sz="1500" dirty="0"/>
          </a:p>
        </p:txBody>
      </p:sp>
      <p:pic>
        <p:nvPicPr>
          <p:cNvPr id="5" name="Object 4" descr="https://fynotefile.oss-cn-zhangjiakou.aliyuncs.com/fynote/fyfile/482/589217/893896a68a0745619d4c30a7b47eb16a.png">    </p:cNvPr>
          <p:cNvPicPr>
            <a:picLocks noChangeAspect="1"/>
          </p:cNvPicPr>
          <p:nvPr/>
        </p:nvPicPr>
        <p:blipFill>
          <a:blip r:embed="rId3"/>
          <a:stretch>
            <a:fillRect/>
          </a:stretch>
        </p:blipFill>
        <p:spPr>
          <a:xfrm>
            <a:off x="758155" y="946679"/>
            <a:ext cx="7805542" cy="38818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2025-04-17T10:08:50Z</dcterms:created>
  <dcterms:modified xsi:type="dcterms:W3CDTF">2025-04-17T10:08:50Z</dcterms:modified>
</cp:coreProperties>
</file>